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web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09" r:id="rId2"/>
    <p:sldId id="259" r:id="rId3"/>
    <p:sldId id="275" r:id="rId4"/>
    <p:sldId id="337" r:id="rId5"/>
    <p:sldId id="305" r:id="rId6"/>
    <p:sldId id="306" r:id="rId7"/>
    <p:sldId id="291" r:id="rId8"/>
    <p:sldId id="328" r:id="rId9"/>
    <p:sldId id="269" r:id="rId10"/>
    <p:sldId id="333" r:id="rId11"/>
    <p:sldId id="289" r:id="rId12"/>
    <p:sldId id="290" r:id="rId13"/>
    <p:sldId id="334" r:id="rId14"/>
    <p:sldId id="283" r:id="rId15"/>
    <p:sldId id="293" r:id="rId16"/>
    <p:sldId id="335" r:id="rId17"/>
    <p:sldId id="260" r:id="rId18"/>
    <p:sldId id="261" r:id="rId19"/>
    <p:sldId id="336" r:id="rId20"/>
    <p:sldId id="319" r:id="rId21"/>
    <p:sldId id="297" r:id="rId22"/>
    <p:sldId id="332" r:id="rId23"/>
    <p:sldId id="321" r:id="rId24"/>
    <p:sldId id="303" r:id="rId25"/>
    <p:sldId id="329" r:id="rId26"/>
    <p:sldId id="330" r:id="rId27"/>
    <p:sldId id="280" r:id="rId28"/>
    <p:sldId id="32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B6D4"/>
    <a:srgbClr val="DEF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Deflection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Cost_Comparison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VCT_HCT_Comparis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Maximum_Forces_in_Bracing_Member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BracingSystems_Radar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Weight_Comparison_of_Bracing_Systems_60m_Tower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Out_of_Plumb_Comparison_60m_Tower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Buckling_Curves_Comparison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Deflection_vs_Wind_Speed_Comparison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Deflection (mm) graph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Wind load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Angle section (mm)</c:v>
                </c:pt>
                <c:pt idx="1">
                  <c:v>Closed hollow section (mm)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85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65-433D-A8A3-7D867481FDD0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Earthquake load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Angle section (mm)</c:v>
                </c:pt>
                <c:pt idx="1">
                  <c:v>Closed hollow section (mm)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65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65-433D-A8A3-7D867481FD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1128976"/>
        <c:axId val="420067840"/>
      </c:barChart>
      <c:catAx>
        <c:axId val="431128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0067840"/>
        <c:crosses val="autoZero"/>
        <c:auto val="1"/>
        <c:lblAlgn val="ctr"/>
        <c:lblOffset val="100"/>
        <c:noMultiLvlLbl val="0"/>
      </c:catAx>
      <c:valAx>
        <c:axId val="420067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1128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(Rs.)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(Rs.)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Angle section</c:v>
                </c:pt>
                <c:pt idx="1">
                  <c:v>Closed hollow section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1500000</c:v>
                </c:pt>
                <c:pt idx="1">
                  <c:v>1250000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A8-48CA-8D5F-A052DED20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5683552"/>
        <c:axId val="319669984"/>
      </c:barChart>
      <c:catAx>
        <c:axId val="21568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9669984"/>
        <c:crosses val="autoZero"/>
        <c:auto val="1"/>
        <c:lblAlgn val="ctr"/>
        <c:lblOffset val="100"/>
        <c:noMultiLvlLbl val="0"/>
      </c:catAx>
      <c:valAx>
        <c:axId val="319669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5683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baseline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tower weights and wind loads (HCT and VCT). </a:t>
            </a:r>
            <a:endParaRPr lang="en-IN" sz="11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1310143911297612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4580927384077"/>
          <c:y val="0.17132157365212658"/>
          <c:w val="0.86486351706036746"/>
          <c:h val="0.689913093290279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Weight (kg)</c:v>
                </c:pt>
                <c:pt idx="1">
                  <c:v>Wind Load (kg)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6800</c:v>
                </c:pt>
                <c:pt idx="1">
                  <c:v>11500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A2-4885-994A-0A5DC39D54A9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HCT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Weight (kg)</c:v>
                </c:pt>
                <c:pt idx="1">
                  <c:v>Wind Load (kg)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6200</c:v>
                </c:pt>
                <c:pt idx="1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A2-4885-994A-0A5DC39D54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159152"/>
        <c:axId val="2129106096"/>
      </c:barChart>
      <c:catAx>
        <c:axId val="12315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9106096"/>
        <c:crosses val="autoZero"/>
        <c:auto val="1"/>
        <c:lblAlgn val="ctr"/>
        <c:lblOffset val="100"/>
        <c:noMultiLvlLbl val="0"/>
      </c:catAx>
      <c:valAx>
        <c:axId val="2129106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159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107141148358169"/>
          <c:y val="0.30769166504684309"/>
          <c:w val="0.22689443380692717"/>
          <c:h val="0.119364197424285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IN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force in bracing members.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770150295424765"/>
          <c:y val="0.10293774785964981"/>
          <c:w val="0.84530847280117904"/>
          <c:h val="0.6562459919202813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VCT Compressive (kg)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9000</c:v>
                </c:pt>
                <c:pt idx="1">
                  <c:v>10500</c:v>
                </c:pt>
                <c:pt idx="2">
                  <c:v>13500</c:v>
                </c:pt>
                <c:pt idx="3">
                  <c:v>16500</c:v>
                </c:pt>
                <c:pt idx="4">
                  <c:v>21000</c:v>
                </c:pt>
                <c:pt idx="5">
                  <c:v>22000</c:v>
                </c:pt>
                <c:pt idx="6">
                  <c:v>21000</c:v>
                </c:pt>
                <c:pt idx="7">
                  <c:v>24000</c:v>
                </c:pt>
                <c:pt idx="8">
                  <c:v>21500</c:v>
                </c:pt>
                <c:pt idx="9">
                  <c:v>13500</c:v>
                </c:pt>
                <c:pt idx="10">
                  <c:v>11000</c:v>
                </c:pt>
                <c:pt idx="11">
                  <c:v>12000</c:v>
                </c:pt>
                <c:pt idx="12">
                  <c:v>12000</c:v>
                </c:pt>
                <c:pt idx="13">
                  <c:v>5000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824-4294-A832-798527F1CA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VCT Tensile (kg)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Sheet1!$C$2:$C$15</c:f>
              <c:numCache>
                <c:formatCode>General</c:formatCode>
                <c:ptCount val="14"/>
                <c:pt idx="0">
                  <c:v>11000</c:v>
                </c:pt>
                <c:pt idx="1">
                  <c:v>14000</c:v>
                </c:pt>
                <c:pt idx="2">
                  <c:v>18000</c:v>
                </c:pt>
                <c:pt idx="3">
                  <c:v>22000</c:v>
                </c:pt>
                <c:pt idx="4">
                  <c:v>27000</c:v>
                </c:pt>
                <c:pt idx="5">
                  <c:v>23000</c:v>
                </c:pt>
                <c:pt idx="6">
                  <c:v>14000</c:v>
                </c:pt>
                <c:pt idx="7">
                  <c:v>15000</c:v>
                </c:pt>
                <c:pt idx="8">
                  <c:v>13000</c:v>
                </c:pt>
                <c:pt idx="9">
                  <c:v>4500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824-4294-A832-798527F1CA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HCT Compressive (kg)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Sheet1!$D$2:$D$15</c:f>
              <c:numCache>
                <c:formatCode>General</c:formatCode>
                <c:ptCount val="14"/>
                <c:pt idx="0">
                  <c:v>10500</c:v>
                </c:pt>
                <c:pt idx="1">
                  <c:v>13000</c:v>
                </c:pt>
                <c:pt idx="2">
                  <c:v>17000</c:v>
                </c:pt>
                <c:pt idx="3">
                  <c:v>21000</c:v>
                </c:pt>
                <c:pt idx="4">
                  <c:v>27000</c:v>
                </c:pt>
                <c:pt idx="5">
                  <c:v>23000</c:v>
                </c:pt>
                <c:pt idx="6">
                  <c:v>14000</c:v>
                </c:pt>
                <c:pt idx="7">
                  <c:v>15000</c:v>
                </c:pt>
                <c:pt idx="8">
                  <c:v>13000</c:v>
                </c:pt>
                <c:pt idx="9">
                  <c:v>4500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824-4294-A832-798527F1CA8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HCT Tensile (kg)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xVal>
          <c:yVal>
            <c:numRef>
              <c:f>Sheet1!$E$2:$E$15</c:f>
              <c:numCache>
                <c:formatCode>General</c:formatCode>
                <c:ptCount val="14"/>
                <c:pt idx="0">
                  <c:v>11000</c:v>
                </c:pt>
                <c:pt idx="1">
                  <c:v>13500</c:v>
                </c:pt>
                <c:pt idx="2">
                  <c:v>17500</c:v>
                </c:pt>
                <c:pt idx="3">
                  <c:v>22000</c:v>
                </c:pt>
                <c:pt idx="4">
                  <c:v>26500</c:v>
                </c:pt>
                <c:pt idx="5">
                  <c:v>13000</c:v>
                </c:pt>
                <c:pt idx="6">
                  <c:v>14000</c:v>
                </c:pt>
                <c:pt idx="7">
                  <c:v>13000</c:v>
                </c:pt>
                <c:pt idx="8">
                  <c:v>4500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A824-4294-A832-798527F1CA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5389392"/>
        <c:axId val="429523232"/>
      </c:scatterChart>
      <c:valAx>
        <c:axId val="425389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Panel number.</a:t>
                </a:r>
              </a:p>
            </c:rich>
          </c:tx>
          <c:layout>
            <c:manualLayout>
              <c:xMode val="edge"/>
              <c:yMode val="edge"/>
              <c:x val="0.41588187597895487"/>
              <c:y val="0.809427744547729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523232"/>
        <c:crosses val="autoZero"/>
        <c:crossBetween val="midCat"/>
      </c:valAx>
      <c:valAx>
        <c:axId val="429523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</a:t>
                </a:r>
                <a:r>
                  <a:rPr lang="en-IN" sz="1100" b="1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(kg)</a:t>
                </a:r>
                <a:endPara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53893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Efficiency of Bracing Systems.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352503937007874"/>
          <c:y val="0.18049787406251147"/>
          <c:w val="0.66705077756913433"/>
          <c:h val="0.77080422980096597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Sheet1!$A$2:$A$8</c:f>
              <c:strCache>
                <c:ptCount val="7"/>
                <c:pt idx="0">
                  <c:v>X</c:v>
                </c:pt>
                <c:pt idx="1">
                  <c:v>K</c:v>
                </c:pt>
                <c:pt idx="2">
                  <c:v>D</c:v>
                </c:pt>
                <c:pt idx="3">
                  <c:v>KD</c:v>
                </c:pt>
                <c:pt idx="4">
                  <c:v>YD</c:v>
                </c:pt>
                <c:pt idx="5">
                  <c:v>XB</c:v>
                </c:pt>
                <c:pt idx="6">
                  <c:v>XBX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1.05</c:v>
                </c:pt>
                <c:pt idx="1">
                  <c:v>1.03</c:v>
                </c:pt>
                <c:pt idx="2">
                  <c:v>1</c:v>
                </c:pt>
                <c:pt idx="3">
                  <c:v>1.04</c:v>
                </c:pt>
                <c:pt idx="4">
                  <c:v>1.02</c:v>
                </c:pt>
                <c:pt idx="5">
                  <c:v>0.9</c:v>
                </c:pt>
                <c:pt idx="6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E9-47D1-B4F1-6266AEB127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Deflection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Sheet1!$A$2:$A$8</c:f>
              <c:strCache>
                <c:ptCount val="7"/>
                <c:pt idx="0">
                  <c:v>X</c:v>
                </c:pt>
                <c:pt idx="1">
                  <c:v>K</c:v>
                </c:pt>
                <c:pt idx="2">
                  <c:v>D</c:v>
                </c:pt>
                <c:pt idx="3">
                  <c:v>KD</c:v>
                </c:pt>
                <c:pt idx="4">
                  <c:v>YD</c:v>
                </c:pt>
                <c:pt idx="5">
                  <c:v>XB</c:v>
                </c:pt>
                <c:pt idx="6">
                  <c:v>XBX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1.1499999999999999</c:v>
                </c:pt>
                <c:pt idx="1">
                  <c:v>1.4</c:v>
                </c:pt>
                <c:pt idx="2">
                  <c:v>1.3</c:v>
                </c:pt>
                <c:pt idx="3">
                  <c:v>1.25</c:v>
                </c:pt>
                <c:pt idx="4">
                  <c:v>1.35</c:v>
                </c:pt>
                <c:pt idx="5">
                  <c:v>1.2</c:v>
                </c:pt>
                <c:pt idx="6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E9-47D1-B4F1-6266AEB127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Stiffness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Sheet1!$A$2:$A$8</c:f>
              <c:strCache>
                <c:ptCount val="7"/>
                <c:pt idx="0">
                  <c:v>X</c:v>
                </c:pt>
                <c:pt idx="1">
                  <c:v>K</c:v>
                </c:pt>
                <c:pt idx="2">
                  <c:v>D</c:v>
                </c:pt>
                <c:pt idx="3">
                  <c:v>KD</c:v>
                </c:pt>
                <c:pt idx="4">
                  <c:v>YD</c:v>
                </c:pt>
                <c:pt idx="5">
                  <c:v>XB</c:v>
                </c:pt>
                <c:pt idx="6">
                  <c:v>XBX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0.95</c:v>
                </c:pt>
                <c:pt idx="2">
                  <c:v>1.05</c:v>
                </c:pt>
                <c:pt idx="3">
                  <c:v>1.1000000000000001</c:v>
                </c:pt>
                <c:pt idx="4">
                  <c:v>1.05</c:v>
                </c:pt>
                <c:pt idx="5">
                  <c:v>1.1499999999999999</c:v>
                </c:pt>
                <c:pt idx="6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E9-47D1-B4F1-6266AEB127C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Economy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strRef>
              <c:f>Sheet1!$A$2:$A$8</c:f>
              <c:strCache>
                <c:ptCount val="7"/>
                <c:pt idx="0">
                  <c:v>X</c:v>
                </c:pt>
                <c:pt idx="1">
                  <c:v>K</c:v>
                </c:pt>
                <c:pt idx="2">
                  <c:v>D</c:v>
                </c:pt>
                <c:pt idx="3">
                  <c:v>KD</c:v>
                </c:pt>
                <c:pt idx="4">
                  <c:v>YD</c:v>
                </c:pt>
                <c:pt idx="5">
                  <c:v>XB</c:v>
                </c:pt>
                <c:pt idx="6">
                  <c:v>XBX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</c:v>
                </c:pt>
                <c:pt idx="1">
                  <c:v>0.75</c:v>
                </c:pt>
                <c:pt idx="2">
                  <c:v>0.9</c:v>
                </c:pt>
                <c:pt idx="3">
                  <c:v>0.95</c:v>
                </c:pt>
                <c:pt idx="4">
                  <c:v>0.85</c:v>
                </c:pt>
                <c:pt idx="5">
                  <c:v>0.7</c:v>
                </c:pt>
                <c:pt idx="6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E9-47D1-B4F1-6266AEB127C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Performance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cat>
            <c:strRef>
              <c:f>Sheet1!$A$2:$A$8</c:f>
              <c:strCache>
                <c:ptCount val="7"/>
                <c:pt idx="0">
                  <c:v>X</c:v>
                </c:pt>
                <c:pt idx="1">
                  <c:v>K</c:v>
                </c:pt>
                <c:pt idx="2">
                  <c:v>D</c:v>
                </c:pt>
                <c:pt idx="3">
                  <c:v>KD</c:v>
                </c:pt>
                <c:pt idx="4">
                  <c:v>YD</c:v>
                </c:pt>
                <c:pt idx="5">
                  <c:v>XB</c:v>
                </c:pt>
                <c:pt idx="6">
                  <c:v>XBX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</c:v>
                </c:pt>
                <c:pt idx="1">
                  <c:v>0.8</c:v>
                </c:pt>
                <c:pt idx="2">
                  <c:v>0.95</c:v>
                </c:pt>
                <c:pt idx="3">
                  <c:v>0.9</c:v>
                </c:pt>
                <c:pt idx="4">
                  <c:v>0.85</c:v>
                </c:pt>
                <c:pt idx="5">
                  <c:v>0.75</c:v>
                </c:pt>
                <c:pt idx="6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E9-47D1-B4F1-6266AEB127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783040"/>
        <c:axId val="1978027680"/>
      </c:radarChart>
      <c:catAx>
        <c:axId val="12678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8027680"/>
        <c:crosses val="autoZero"/>
        <c:auto val="1"/>
        <c:lblAlgn val="ctr"/>
        <c:lblOffset val="100"/>
        <c:noMultiLvlLbl val="0"/>
      </c:catAx>
      <c:valAx>
        <c:axId val="1978027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783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4.9999940517332656E-2"/>
          <c:y val="0.91782215721886573"/>
          <c:w val="0.89999982155199798"/>
          <c:h val="8.16702475250920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K</c:v>
                </c:pt>
                <c:pt idx="1">
                  <c:v>KD</c:v>
                </c:pt>
                <c:pt idx="2">
                  <c:v>Y</c:v>
                </c:pt>
                <c:pt idx="3">
                  <c:v>YD</c:v>
                </c:pt>
                <c:pt idx="4">
                  <c:v>D</c:v>
                </c:pt>
                <c:pt idx="5">
                  <c:v>XB</c:v>
                </c:pt>
                <c:pt idx="6">
                  <c:v>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74000</c:v>
                </c:pt>
                <c:pt idx="1">
                  <c:v>61000</c:v>
                </c:pt>
                <c:pt idx="2">
                  <c:v>88000</c:v>
                </c:pt>
                <c:pt idx="3">
                  <c:v>62000</c:v>
                </c:pt>
                <c:pt idx="4">
                  <c:v>63000</c:v>
                </c:pt>
                <c:pt idx="5">
                  <c:v>145000</c:v>
                </c:pt>
                <c:pt idx="6">
                  <c:v>123000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5-42BF-AB33-80622B57C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75683792"/>
        <c:axId val="137613792"/>
      </c:barChart>
      <c:catAx>
        <c:axId val="1975683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613792"/>
        <c:crosses val="autoZero"/>
        <c:auto val="1"/>
        <c:lblAlgn val="ctr"/>
        <c:lblOffset val="100"/>
        <c:noMultiLvlLbl val="0"/>
      </c:catAx>
      <c:valAx>
        <c:axId val="137613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6837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sway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of 60 m tower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(cm).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 of Plumb (cm)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K</c:v>
                </c:pt>
                <c:pt idx="1">
                  <c:v>KD</c:v>
                </c:pt>
                <c:pt idx="2">
                  <c:v>Y</c:v>
                </c:pt>
                <c:pt idx="3">
                  <c:v>YD</c:v>
                </c:pt>
                <c:pt idx="4">
                  <c:v>D</c:v>
                </c:pt>
                <c:pt idx="5">
                  <c:v>XB</c:v>
                </c:pt>
                <c:pt idx="6">
                  <c:v>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</c:v>
                </c:pt>
                <c:pt idx="1">
                  <c:v>68</c:v>
                </c:pt>
                <c:pt idx="2">
                  <c:v>62</c:v>
                </c:pt>
                <c:pt idx="3">
                  <c:v>64</c:v>
                </c:pt>
                <c:pt idx="4">
                  <c:v>67</c:v>
                </c:pt>
                <c:pt idx="5">
                  <c:v>54</c:v>
                </c:pt>
                <c:pt idx="6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27-4338-830A-237691A525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5003712"/>
        <c:axId val="204191200"/>
      </c:barChart>
      <c:catAx>
        <c:axId val="205003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191200"/>
        <c:crosses val="autoZero"/>
        <c:auto val="1"/>
        <c:lblAlgn val="ctr"/>
        <c:lblOffset val="100"/>
        <c:noMultiLvlLbl val="0"/>
      </c:catAx>
      <c:valAx>
        <c:axId val="204191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003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Buckling curve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 800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1.02</c:v>
                </c:pt>
                <c:pt idx="1">
                  <c:v>0.95</c:v>
                </c:pt>
                <c:pt idx="2">
                  <c:v>0.8</c:v>
                </c:pt>
                <c:pt idx="3">
                  <c:v>0.65</c:v>
                </c:pt>
                <c:pt idx="4">
                  <c:v>0.53</c:v>
                </c:pt>
                <c:pt idx="5">
                  <c:v>0.43</c:v>
                </c:pt>
                <c:pt idx="6">
                  <c:v>0.36</c:v>
                </c:pt>
                <c:pt idx="7">
                  <c:v>0.3</c:v>
                </c:pt>
                <c:pt idx="8">
                  <c:v>0.26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699-4DE4-AD6B-13B561B479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 802 / ASCE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0">
                  <c:v>1.03</c:v>
                </c:pt>
                <c:pt idx="1">
                  <c:v>0.96</c:v>
                </c:pt>
                <c:pt idx="2">
                  <c:v>0.83</c:v>
                </c:pt>
                <c:pt idx="3">
                  <c:v>0.7</c:v>
                </c:pt>
                <c:pt idx="4">
                  <c:v>0.56999999999999995</c:v>
                </c:pt>
                <c:pt idx="5">
                  <c:v>0.46</c:v>
                </c:pt>
                <c:pt idx="6">
                  <c:v>0.38</c:v>
                </c:pt>
                <c:pt idx="7">
                  <c:v>0.32</c:v>
                </c:pt>
                <c:pt idx="8">
                  <c:v>0.28000000000000003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699-4DE4-AD6B-13B561B479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BS EN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</c:numCache>
            </c:numRef>
          </c:xVal>
          <c:yVal>
            <c:numRef>
              <c:f>Sheet1!$D$2:$D$10</c:f>
              <c:numCache>
                <c:formatCode>General</c:formatCode>
                <c:ptCount val="9"/>
                <c:pt idx="0">
                  <c:v>1.05</c:v>
                </c:pt>
                <c:pt idx="1">
                  <c:v>0.97</c:v>
                </c:pt>
                <c:pt idx="2">
                  <c:v>0.84</c:v>
                </c:pt>
                <c:pt idx="3">
                  <c:v>0.72</c:v>
                </c:pt>
                <c:pt idx="4">
                  <c:v>0.59</c:v>
                </c:pt>
                <c:pt idx="5">
                  <c:v>0.48</c:v>
                </c:pt>
                <c:pt idx="6">
                  <c:v>0.4</c:v>
                </c:pt>
                <c:pt idx="7">
                  <c:v>0.34</c:v>
                </c:pt>
                <c:pt idx="8">
                  <c:v>0.3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699-4DE4-AD6B-13B561B479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074944"/>
        <c:axId val="279453824"/>
      </c:scatterChart>
      <c:valAx>
        <c:axId val="97074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Normalized slenderness</a:t>
                </a:r>
                <a:r>
                  <a:rPr lang="en-IN" baseline="0"/>
                  <a:t> ratio.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453824"/>
        <c:crosses val="autoZero"/>
        <c:crossBetween val="midCat"/>
      </c:valAx>
      <c:valAx>
        <c:axId val="279453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Reduction</a:t>
                </a:r>
                <a:r>
                  <a:rPr lang="en-IN" baseline="0"/>
                  <a:t> Factor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0749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Deflection</a:t>
            </a:r>
            <a:r>
              <a:rPr lang="en-IN" baseline="0"/>
              <a:t> vs Wind speed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 802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0.16</c:v>
                </c:pt>
                <c:pt idx="1">
                  <c:v>0.25</c:v>
                </c:pt>
                <c:pt idx="2">
                  <c:v>0.34</c:v>
                </c:pt>
                <c:pt idx="3">
                  <c:v>0.44</c:v>
                </c:pt>
                <c:pt idx="4">
                  <c:v>0.54</c:v>
                </c:pt>
                <c:pt idx="5">
                  <c:v>0.65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730-4E29-8957-9C26D3EADA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 875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0.17</c:v>
                </c:pt>
                <c:pt idx="1">
                  <c:v>0.27</c:v>
                </c:pt>
                <c:pt idx="2">
                  <c:v>0.37</c:v>
                </c:pt>
                <c:pt idx="3">
                  <c:v>0.5</c:v>
                </c:pt>
                <c:pt idx="4">
                  <c:v>0.61</c:v>
                </c:pt>
                <c:pt idx="5">
                  <c:v>0.73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730-4E29-8957-9C26D3EADA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ASCE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</c:numCache>
            </c:numRef>
          </c:xVal>
          <c:yVal>
            <c:numRef>
              <c:f>Sheet1!$D$2:$D$7</c:f>
              <c:numCache>
                <c:formatCode>General</c:formatCode>
                <c:ptCount val="6"/>
                <c:pt idx="0">
                  <c:v>0.18</c:v>
                </c:pt>
                <c:pt idx="1">
                  <c:v>0.28000000000000003</c:v>
                </c:pt>
                <c:pt idx="2">
                  <c:v>0.38</c:v>
                </c:pt>
                <c:pt idx="3">
                  <c:v>0.49</c:v>
                </c:pt>
                <c:pt idx="4">
                  <c:v>0.6</c:v>
                </c:pt>
                <c:pt idx="5">
                  <c:v>0.72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730-4E29-8957-9C26D3EADA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BS EN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0.14000000000000001</c:v>
                </c:pt>
                <c:pt idx="1">
                  <c:v>0.22</c:v>
                </c:pt>
                <c:pt idx="2">
                  <c:v>0.28000000000000003</c:v>
                </c:pt>
                <c:pt idx="3">
                  <c:v>0.36</c:v>
                </c:pt>
                <c:pt idx="4">
                  <c:v>0.44</c:v>
                </c:pt>
                <c:pt idx="5">
                  <c:v>0.52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8730-4E29-8957-9C26D3EADA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33825696"/>
        <c:axId val="132153616"/>
      </c:scatterChart>
      <c:valAx>
        <c:axId val="2133825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Wind Speed (m/s)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153616"/>
        <c:crosses val="autoZero"/>
        <c:crossBetween val="midCat"/>
      </c:valAx>
      <c:valAx>
        <c:axId val="13215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Tower top deflecton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38256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3A175-65CF-4CB4-B312-69F1E10C02E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6F1B1-4B65-4DFC-869B-D2BA579334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49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B6FFB-50C7-426B-B5B1-3AE2DF2B2156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36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8C45-F40F-40DE-B902-9D959BE28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D86C1-85FA-43E8-9953-8E081D12C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C920C-6407-48EF-9256-64CD302B5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1D8D-F344-4EF8-9C4F-B638265F22F7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9B01F-2CF6-4067-95CE-5833A07A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76CE3-6D8F-423D-B288-15476462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90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3D18-5AA6-4454-82A3-C8A18C6A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4084F-59F8-4B90-B8E7-8810142B4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91E7D-9887-4156-ADED-5FD215F1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3566-B19E-43C6-A01C-5113F914C18E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2E11A-1BB3-4519-A543-8D22FA43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E232C-48BF-4D43-BD4E-DB96F467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80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3E6FB-0739-480F-8962-695F6154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C7716-88C3-47AD-9EAD-4B49B160C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6B6C7-F36A-4A3A-A133-11D91600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2F155-ABD3-4FB4-9806-609899D1C2E1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365EE-FE61-4104-9434-29F6A7D3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2EE01-A598-410E-9C5F-1FED6DF1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19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E974-A32B-4400-81EC-AC323D2C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B4F60-4FCE-40BA-AD68-9574296B40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B60CD-1BA6-460C-948F-E33016098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32404-4196-4BC5-9470-6CA09495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EC2-9D18-4621-99EC-EA7752E619E3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B469A-4892-41B2-997E-EB270BF9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738E2-3654-47C4-9073-8BD68291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83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4532-B9EC-44CE-B4AE-990831413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24CE3-8C45-4AE5-B66A-99EBA2F1A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9070-EDD5-41A7-B847-9D9EFB290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ACB10-E9FE-4908-A916-35063512E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45BDE-003E-44F0-9AC6-E392BB93C6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0919F-F24C-430D-A1B9-AC28145B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14084-3FD3-4C41-B472-1FB8A7645931}" type="datetime1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89D4A-93D6-478B-9541-1204FB9C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BCF14-02F9-46A8-94D3-069AECD5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85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3802-5C21-4770-8C3A-DB4F19BD2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2698D-4FB4-4D52-AF61-E76E066E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FAD6C-1D5B-4F07-9CC5-212A49E16698}" type="datetime1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71F0D-B005-4455-8859-23A7706B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E6CE8-53AA-45D3-B3B3-644D0394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93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D3BF9-2FDD-47C0-996C-97520594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6C0B2-5D1F-4864-AE76-18899561164E}" type="datetime1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EA663-D6F4-4B93-89E7-3E80D2C7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11B6C-C573-4474-985F-795080BC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2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DE48-974D-4946-BC61-26E9EC25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D9F7D-B467-4B77-A669-2CE768029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480E7-590B-43B7-8AA4-CBD1B8FD0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BA121-F262-4E3D-BEA7-1FBEC807F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88F3B-41BF-4A1C-99AD-BA1718D86719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942A0-2609-45F4-AD55-32C99537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FD122-414A-4220-86D5-784EE7C1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162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D014-248C-4B55-BA62-B28957604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749860-059D-496E-A31A-9CB4B3C89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965CF-8512-429A-8A01-C7FAB1628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1C514-2C7A-4C9D-8FAA-6BD436C6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A984D-9810-43DA-AC35-466DA598C76C}" type="datetime1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89462-214E-4D6E-AAE4-EE02C546A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01C1E-FABB-4AEB-B813-86C21638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14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0BE3-BD67-4E4B-B4B1-B0F98256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D30A3-0D01-4F05-9FCD-48E610F5B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36544-D541-414F-8EBE-CB6EE875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268-097F-4A50-A191-197C0763C202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A4F4E-2210-42B3-8FC5-4A42030E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301AF-4EEB-4B51-B01A-103388B1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508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CA692-A4AB-4415-8100-7B03E277F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61225-DF44-4338-8D48-4309486AF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89011-EF2A-4EF0-BE2B-175261DF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5045E-9537-4981-A092-35F6404D6A9A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F49F-8B20-42C4-AD32-03B2E5AE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51924-6A8F-490B-9E16-3B718F84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2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90170-3281-4F28-82AB-FC49307AF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5C439-E6CD-4FE3-99B9-9F3B0EBF6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CDC21-3BA3-44A9-A4E5-DB3B84E17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856E6-4F10-44D5-B0CC-505F7EF9DB07}" type="datetime1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6B5D3-E89D-4A97-A156-C7547275C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Parametric Study on Structural Efficiency and Economy of Transmission Towers.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22783-D085-417B-9BBF-8CEC45E27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E2847-1C20-43EE-917E-838C00A964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67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683619A-53B9-4478-8470-FBA55B413AE5}"/>
              </a:ext>
            </a:extLst>
          </p:cNvPr>
          <p:cNvSpPr/>
          <p:nvPr/>
        </p:nvSpPr>
        <p:spPr>
          <a:xfrm>
            <a:off x="0" y="0"/>
            <a:ext cx="12192000" cy="845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E105FE-7DF7-424C-AAD8-D92E11C27230}"/>
              </a:ext>
            </a:extLst>
          </p:cNvPr>
          <p:cNvSpPr/>
          <p:nvPr/>
        </p:nvSpPr>
        <p:spPr>
          <a:xfrm>
            <a:off x="186266" y="173352"/>
            <a:ext cx="11830862" cy="548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on Structural Efficiency and Economy of Transmission Towers.</a:t>
            </a:r>
            <a:endParaRPr lang="en-IN" sz="3200" b="1" kern="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A564B0-8E4E-4165-ADDF-A45BC56A7701}"/>
              </a:ext>
            </a:extLst>
          </p:cNvPr>
          <p:cNvSpPr/>
          <p:nvPr/>
        </p:nvSpPr>
        <p:spPr>
          <a:xfrm>
            <a:off x="4117062" y="1664059"/>
            <a:ext cx="3890809" cy="3906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Nallajarla Siva Rama Krishna</a:t>
            </a:r>
            <a:endParaRPr lang="en-IN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5AFC9-D4C8-45D7-97F0-EE913BE38BF1}"/>
              </a:ext>
            </a:extLst>
          </p:cNvPr>
          <p:cNvSpPr/>
          <p:nvPr/>
        </p:nvSpPr>
        <p:spPr>
          <a:xfrm>
            <a:off x="5022623" y="2088835"/>
            <a:ext cx="2146742" cy="3906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Roll no: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CE24M309</a:t>
            </a:r>
            <a:endParaRPr lang="en-IN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24D227-0282-40F1-B541-70CBF1A61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4961" y="6413007"/>
            <a:ext cx="4114800" cy="365125"/>
          </a:xfrm>
        </p:spPr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BEA7DD-0DAC-4A47-AE61-55A3F7B2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1</a:t>
            </a:fld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5A24B6-2F04-4A1C-B6C3-E8BA37F7998D}"/>
              </a:ext>
            </a:extLst>
          </p:cNvPr>
          <p:cNvCxnSpPr>
            <a:cxnSpLocks/>
          </p:cNvCxnSpPr>
          <p:nvPr/>
        </p:nvCxnSpPr>
        <p:spPr>
          <a:xfrm>
            <a:off x="186266" y="64410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B9053B0-BE83-49D7-9A69-1664EB91F0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21326" y="2782669"/>
            <a:ext cx="2549339" cy="129266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FF3826-C93A-4246-B874-AE5C962978D3}"/>
              </a:ext>
            </a:extLst>
          </p:cNvPr>
          <p:cNvSpPr/>
          <p:nvPr/>
        </p:nvSpPr>
        <p:spPr>
          <a:xfrm>
            <a:off x="1842649" y="4378242"/>
            <a:ext cx="8506691" cy="12329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Civil and Environmental Engineering,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Structural engineering 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Indian Institute of Technology Tirupati.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1C6EC-C5CB-4B12-B094-730AF0020AAE}"/>
              </a:ext>
            </a:extLst>
          </p:cNvPr>
          <p:cNvSpPr txBox="1"/>
          <p:nvPr/>
        </p:nvSpPr>
        <p:spPr>
          <a:xfrm>
            <a:off x="4496009" y="1008004"/>
            <a:ext cx="3545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 ONE PRESENTATION.</a:t>
            </a:r>
          </a:p>
        </p:txBody>
      </p:sp>
      <p:sp>
        <p:nvSpPr>
          <p:cNvPr id="16" name="AutoShape 4" descr="Transmission Tower Icon Images – Browse 41,537 Stock Photos, Vectors, and  Video | Adobe Stock">
            <a:extLst>
              <a:ext uri="{FF2B5EF4-FFF2-40B4-BE49-F238E27FC236}">
                <a16:creationId xmlns:a16="http://schemas.microsoft.com/office/drawing/2014/main" id="{B3AC0837-C374-4904-8111-2CF82D8C97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7" name="AutoShape 6" descr="Transmission Tower Icon Images – Browse 41,537 Stock Photos, Vectors, and  Video | Adobe Stock">
            <a:extLst>
              <a:ext uri="{FF2B5EF4-FFF2-40B4-BE49-F238E27FC236}">
                <a16:creationId xmlns:a16="http://schemas.microsoft.com/office/drawing/2014/main" id="{F784CCAB-3697-488E-B570-DA9FF8E7EB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7B88D4-2203-43E9-B64D-CAFE9151E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96" y="5850039"/>
            <a:ext cx="2837556" cy="5909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8B3CE3-70A4-4238-B91A-A4DF7AB88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410" y="5850039"/>
            <a:ext cx="2837556" cy="5909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CC54974-9F12-4080-8AFA-99B12264F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966" y="5849996"/>
            <a:ext cx="2837556" cy="5909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3E799C-9898-4627-B70A-B2AC4BF84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380" y="5849953"/>
            <a:ext cx="2515822" cy="590977"/>
          </a:xfrm>
          <a:prstGeom prst="rect">
            <a:avLst/>
          </a:prstGeom>
        </p:spPr>
      </p:pic>
      <p:pic>
        <p:nvPicPr>
          <p:cNvPr id="1034" name="Picture 10" descr="Electricity Tower icon vector. Transmission Tower illustration sign. Power  Lines symbol. Electrical Lines logo. 19551540 Vector Art at Vecteezy">
            <a:extLst>
              <a:ext uri="{FF2B5EF4-FFF2-40B4-BE49-F238E27FC236}">
                <a16:creationId xmlns:a16="http://schemas.microsoft.com/office/drawing/2014/main" id="{6C03BDEA-D576-46DF-827B-4F6AE2BA23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8" t="13658" r="30153" b="13441"/>
          <a:stretch/>
        </p:blipFill>
        <p:spPr bwMode="auto">
          <a:xfrm>
            <a:off x="228534" y="5512704"/>
            <a:ext cx="440270" cy="91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" descr="Electricity Tower icon vector. Transmission Tower illustration sign. Power  Lines symbol. Electrical Lines logo. 19551540 Vector Art at Vecteezy">
            <a:extLst>
              <a:ext uri="{FF2B5EF4-FFF2-40B4-BE49-F238E27FC236}">
                <a16:creationId xmlns:a16="http://schemas.microsoft.com/office/drawing/2014/main" id="{7A051868-70DF-4A49-8E8B-5EE0C9CA0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8" t="13658" r="30153" b="13441"/>
          <a:stretch/>
        </p:blipFill>
        <p:spPr bwMode="auto">
          <a:xfrm>
            <a:off x="11569225" y="5498308"/>
            <a:ext cx="447903" cy="92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09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09CB44EC-DEC6-471C-ABFB-7AAE33359502}"/>
              </a:ext>
            </a:extLst>
          </p:cNvPr>
          <p:cNvSpPr/>
          <p:nvPr/>
        </p:nvSpPr>
        <p:spPr>
          <a:xfrm>
            <a:off x="1021223" y="5590085"/>
            <a:ext cx="2203326" cy="305042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CA33D-F286-4942-B536-BBDAC1FB1A03}"/>
              </a:ext>
            </a:extLst>
          </p:cNvPr>
          <p:cNvSpPr txBox="1"/>
          <p:nvPr/>
        </p:nvSpPr>
        <p:spPr>
          <a:xfrm>
            <a:off x="4969248" y="59475"/>
            <a:ext cx="2370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4AD99-963B-4B39-9224-FCCE9F94F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on Structural Efficiency and Economy of Transmission Towers.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599DB-DBEF-4A08-9C88-525B6548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2</a:t>
            </a:fld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5E54A6-4374-4E50-8AF0-6AE3A055DE4C}"/>
              </a:ext>
            </a:extLst>
          </p:cNvPr>
          <p:cNvCxnSpPr>
            <a:cxnSpLocks/>
          </p:cNvCxnSpPr>
          <p:nvPr/>
        </p:nvCxnSpPr>
        <p:spPr>
          <a:xfrm>
            <a:off x="186266" y="64410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FE18EB-AE44-4D54-A21F-88345E5AA0B1}"/>
              </a:ext>
            </a:extLst>
          </p:cNvPr>
          <p:cNvCxnSpPr>
            <a:cxnSpLocks/>
          </p:cNvCxnSpPr>
          <p:nvPr/>
        </p:nvCxnSpPr>
        <p:spPr>
          <a:xfrm>
            <a:off x="186266" y="64410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75BDFF-F0AC-48A7-9EC2-5B2FCA126E68}"/>
              </a:ext>
            </a:extLst>
          </p:cNvPr>
          <p:cNvCxnSpPr>
            <a:cxnSpLocks/>
          </p:cNvCxnSpPr>
          <p:nvPr/>
        </p:nvCxnSpPr>
        <p:spPr>
          <a:xfrm>
            <a:off x="251012" y="52114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84E53DA2-CCD4-464D-8028-AF56CDD90EF1}"/>
              </a:ext>
            </a:extLst>
          </p:cNvPr>
          <p:cNvSpPr/>
          <p:nvPr/>
        </p:nvSpPr>
        <p:spPr>
          <a:xfrm>
            <a:off x="958148" y="862997"/>
            <a:ext cx="1445746" cy="281564"/>
          </a:xfrm>
          <a:prstGeom prst="chevron">
            <a:avLst/>
          </a:prstGeom>
          <a:solidFill>
            <a:schemeClr val="bg1"/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52B38CF4-ECB9-4B95-8AAA-A29EFC53FEC8}"/>
              </a:ext>
            </a:extLst>
          </p:cNvPr>
          <p:cNvSpPr/>
          <p:nvPr/>
        </p:nvSpPr>
        <p:spPr>
          <a:xfrm>
            <a:off x="1021223" y="5044196"/>
            <a:ext cx="2203326" cy="305042"/>
          </a:xfrm>
          <a:prstGeom prst="chevr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80B0F6-A47A-4327-A50B-F6906941B650}"/>
              </a:ext>
            </a:extLst>
          </p:cNvPr>
          <p:cNvSpPr/>
          <p:nvPr/>
        </p:nvSpPr>
        <p:spPr>
          <a:xfrm>
            <a:off x="1021223" y="3878101"/>
            <a:ext cx="1620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Base width.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213639-FE32-4A51-846A-52AEF6432C1A}"/>
              </a:ext>
            </a:extLst>
          </p:cNvPr>
          <p:cNvSpPr/>
          <p:nvPr/>
        </p:nvSpPr>
        <p:spPr>
          <a:xfrm>
            <a:off x="1021223" y="4183190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Bracings system.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EC12A2-1C5E-4645-9700-0B485CE755B7}"/>
              </a:ext>
            </a:extLst>
          </p:cNvPr>
          <p:cNvSpPr/>
          <p:nvPr/>
        </p:nvSpPr>
        <p:spPr>
          <a:xfrm>
            <a:off x="1033006" y="3185333"/>
            <a:ext cx="1370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Sections.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D5F8F4-13A8-482E-A96A-4C949D3544C5}"/>
              </a:ext>
            </a:extLst>
          </p:cNvPr>
          <p:cNvSpPr/>
          <p:nvPr/>
        </p:nvSpPr>
        <p:spPr>
          <a:xfrm>
            <a:off x="1021223" y="4523490"/>
            <a:ext cx="1826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Codes design.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2948E5-6A15-4B3F-B510-CA7EED5FF0E2}"/>
              </a:ext>
            </a:extLst>
          </p:cNvPr>
          <p:cNvSpPr/>
          <p:nvPr/>
        </p:nvSpPr>
        <p:spPr>
          <a:xfrm>
            <a:off x="1030006" y="3523714"/>
            <a:ext cx="1883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Configuration.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B3B525-7011-4F9B-9B24-19E7FE939AB5}"/>
              </a:ext>
            </a:extLst>
          </p:cNvPr>
          <p:cNvSpPr/>
          <p:nvPr/>
        </p:nvSpPr>
        <p:spPr>
          <a:xfrm>
            <a:off x="1050079" y="1272534"/>
            <a:ext cx="3415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1.1 - Types of transmission towers.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64860E-5A4B-421D-B076-EB202DC3B1FA}"/>
              </a:ext>
            </a:extLst>
          </p:cNvPr>
          <p:cNvSpPr/>
          <p:nvPr/>
        </p:nvSpPr>
        <p:spPr>
          <a:xfrm>
            <a:off x="1030006" y="1708101"/>
            <a:ext cx="3474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1.2 - Loads on transmission towers.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DE354847-D19C-4EAD-BFDA-9E61CFB7BC37}"/>
              </a:ext>
            </a:extLst>
          </p:cNvPr>
          <p:cNvSpPr/>
          <p:nvPr/>
        </p:nvSpPr>
        <p:spPr>
          <a:xfrm>
            <a:off x="921363" y="2752919"/>
            <a:ext cx="2710837" cy="310072"/>
          </a:xfrm>
          <a:prstGeom prst="chevr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149B0BEF-BA8B-4C76-B09D-71765A2667C2}"/>
              </a:ext>
            </a:extLst>
          </p:cNvPr>
          <p:cNvSpPr/>
          <p:nvPr/>
        </p:nvSpPr>
        <p:spPr>
          <a:xfrm>
            <a:off x="921363" y="2243223"/>
            <a:ext cx="2083571" cy="289452"/>
          </a:xfrm>
          <a:prstGeom prst="chevron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197744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6BD3AC-826D-4B59-9BBA-A4413E0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C0465-0704-4250-B9D0-036C68AD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3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59A04C-045F-4734-A443-F3427483533D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F87B13-22B1-41B0-A8C8-0B192B82540E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CE955B-B313-4315-84E0-065A256CE3A1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481E4D1-0EB9-42AD-9A0D-1AD32250B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95" y="688879"/>
            <a:ext cx="5850466" cy="56005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FAC6C02-811D-410B-8E31-B14ED6F8802D}"/>
              </a:ext>
            </a:extLst>
          </p:cNvPr>
          <p:cNvSpPr/>
          <p:nvPr/>
        </p:nvSpPr>
        <p:spPr>
          <a:xfrm>
            <a:off x="495902" y="568575"/>
            <a:ext cx="5519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Power Transmission and Distribution Layout.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6F3359-016F-457E-8122-7E9376C8FB9A}"/>
              </a:ext>
            </a:extLst>
          </p:cNvPr>
          <p:cNvSpPr txBox="1"/>
          <p:nvPr/>
        </p:nvSpPr>
        <p:spPr>
          <a:xfrm>
            <a:off x="6942667" y="551737"/>
            <a:ext cx="483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1.1 - ABOUT THE TRANSMISSION TOWER.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F8610-E54C-4601-AB69-F62B4CD6FF08}"/>
              </a:ext>
            </a:extLst>
          </p:cNvPr>
          <p:cNvSpPr/>
          <p:nvPr/>
        </p:nvSpPr>
        <p:spPr>
          <a:xfrm>
            <a:off x="6285498" y="1065296"/>
            <a:ext cx="5601701" cy="5028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Transmission towers (electrical pylons) carry high-voltage electricity over long distances.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Typical heights range from 50-150 ft (16-45 m) and tallest reach 1,247 ft (380 m).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connect power plants to substations, linking different grid regions.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</a:rPr>
              <a:t> Transmission line towers form a major component of the power transmission network, contributing nearly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30 to 40%</a:t>
            </a:r>
            <a:r>
              <a:rPr lang="en-US" dirty="0">
                <a:latin typeface="Times New Roman" panose="02020603050405020304" pitchFamily="18" charset="0"/>
                <a:ea typeface="MS Mincho" panose="02020609040205080304" pitchFamily="49" charset="-128"/>
              </a:rPr>
              <a:t> of the overall project cost. </a:t>
            </a:r>
            <a:endParaRPr lang="en-IN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Inefficient design may lead to excessive deflection, higher steel consumption or increased cost.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towers are made of steel, while some use concrete, wood or ductile iron.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F991208D-09C9-49F1-989F-5D0C2ABC2261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3310FD47-DC34-44E0-A9E9-E1D4DB0021AF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11A7586A-5FC5-4935-AD93-6E8609A74710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0F7299CB-C5C1-4236-B7D1-383120790E4C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F437E682-453A-4844-962B-EC40B1D43842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4ACB3-A083-403B-A433-5C33047987B8}"/>
              </a:ext>
            </a:extLst>
          </p:cNvPr>
          <p:cNvSpPr txBox="1"/>
          <p:nvPr/>
        </p:nvSpPr>
        <p:spPr>
          <a:xfrm>
            <a:off x="2495810" y="6082211"/>
            <a:ext cx="36631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https://www.eia.gov/energyexplained/electricity/delivery-to-consumers.php</a:t>
            </a:r>
          </a:p>
        </p:txBody>
      </p:sp>
    </p:spTree>
    <p:extLst>
      <p:ext uri="{BB962C8B-B14F-4D97-AF65-F5344CB8AC3E}">
        <p14:creationId xmlns:p14="http://schemas.microsoft.com/office/powerpoint/2010/main" val="1550474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08D929D-58EC-4F44-8E46-AE0BF4A7C03B}"/>
              </a:ext>
            </a:extLst>
          </p:cNvPr>
          <p:cNvSpPr/>
          <p:nvPr/>
        </p:nvSpPr>
        <p:spPr>
          <a:xfrm>
            <a:off x="9597570" y="3963300"/>
            <a:ext cx="2393346" cy="21995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DE65483-8CF5-49EE-B109-849C8C3E957F}"/>
              </a:ext>
            </a:extLst>
          </p:cNvPr>
          <p:cNvSpPr/>
          <p:nvPr/>
        </p:nvSpPr>
        <p:spPr>
          <a:xfrm>
            <a:off x="9870141" y="1729291"/>
            <a:ext cx="2184343" cy="18868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F787241-CD4A-43BC-922C-B4FADF6CC5CA}"/>
              </a:ext>
            </a:extLst>
          </p:cNvPr>
          <p:cNvSpPr/>
          <p:nvPr/>
        </p:nvSpPr>
        <p:spPr>
          <a:xfrm>
            <a:off x="6893859" y="1824194"/>
            <a:ext cx="2559040" cy="36204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EECB03A5-B1EF-4232-98B4-A8D8C230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416741"/>
            <a:ext cx="4114800" cy="365125"/>
          </a:xfrm>
        </p:spPr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543FD0-3A4A-4154-B223-9C2AD0F2CB24}"/>
              </a:ext>
            </a:extLst>
          </p:cNvPr>
          <p:cNvCxnSpPr>
            <a:cxnSpLocks/>
          </p:cNvCxnSpPr>
          <p:nvPr/>
        </p:nvCxnSpPr>
        <p:spPr>
          <a:xfrm>
            <a:off x="186266" y="64410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7B32F8-554D-4802-BFF9-F4E5DF448D4E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0B3EF-F7D6-4082-AC54-014289BAB20D}"/>
              </a:ext>
            </a:extLst>
          </p:cNvPr>
          <p:cNvSpPr/>
          <p:nvPr/>
        </p:nvSpPr>
        <p:spPr>
          <a:xfrm>
            <a:off x="4405032" y="634931"/>
            <a:ext cx="3381936" cy="372533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transmission towers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40E06B-937E-47C6-B8C5-7622BB08162B}"/>
              </a:ext>
            </a:extLst>
          </p:cNvPr>
          <p:cNvCxnSpPr>
            <a:cxnSpLocks/>
          </p:cNvCxnSpPr>
          <p:nvPr/>
        </p:nvCxnSpPr>
        <p:spPr>
          <a:xfrm>
            <a:off x="1698178" y="1256055"/>
            <a:ext cx="93064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EDFFF5-5014-4859-B383-903E6107643A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6096000" y="1007464"/>
            <a:ext cx="0" cy="2485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4C2261-7A9B-4497-87FB-51C801E5ACF3}"/>
              </a:ext>
            </a:extLst>
          </p:cNvPr>
          <p:cNvCxnSpPr>
            <a:cxnSpLocks/>
          </p:cNvCxnSpPr>
          <p:nvPr/>
        </p:nvCxnSpPr>
        <p:spPr>
          <a:xfrm>
            <a:off x="8075207" y="1256055"/>
            <a:ext cx="0" cy="554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A4C251-D13C-41F8-97A7-70007DFF441B}"/>
              </a:ext>
            </a:extLst>
          </p:cNvPr>
          <p:cNvCxnSpPr>
            <a:cxnSpLocks/>
          </p:cNvCxnSpPr>
          <p:nvPr/>
        </p:nvCxnSpPr>
        <p:spPr>
          <a:xfrm>
            <a:off x="11004673" y="1247588"/>
            <a:ext cx="0" cy="448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9200F8-6873-426E-AA29-25E18600FFB8}"/>
              </a:ext>
            </a:extLst>
          </p:cNvPr>
          <p:cNvCxnSpPr>
            <a:cxnSpLocks/>
          </p:cNvCxnSpPr>
          <p:nvPr/>
        </p:nvCxnSpPr>
        <p:spPr>
          <a:xfrm>
            <a:off x="4839943" y="1256055"/>
            <a:ext cx="0" cy="680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ED34AC-26A3-4720-A60E-AE071D1284D5}"/>
              </a:ext>
            </a:extLst>
          </p:cNvPr>
          <p:cNvCxnSpPr>
            <a:cxnSpLocks/>
          </p:cNvCxnSpPr>
          <p:nvPr/>
        </p:nvCxnSpPr>
        <p:spPr>
          <a:xfrm>
            <a:off x="1716108" y="1256055"/>
            <a:ext cx="0" cy="680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968D4CB-F18B-406A-9159-6337D14342EA}"/>
              </a:ext>
            </a:extLst>
          </p:cNvPr>
          <p:cNvSpPr/>
          <p:nvPr/>
        </p:nvSpPr>
        <p:spPr>
          <a:xfrm>
            <a:off x="394447" y="1936376"/>
            <a:ext cx="2617689" cy="149261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9E96E8-ECD6-4623-B10C-BE3D0F374CB4}"/>
              </a:ext>
            </a:extLst>
          </p:cNvPr>
          <p:cNvSpPr/>
          <p:nvPr/>
        </p:nvSpPr>
        <p:spPr>
          <a:xfrm>
            <a:off x="517080" y="2250901"/>
            <a:ext cx="2362198" cy="117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Single circuit tower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Double circuit tower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Multi circuit tower.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26EAE2-0FB9-4C61-9052-5254C649BEB4}"/>
              </a:ext>
            </a:extLst>
          </p:cNvPr>
          <p:cNvSpPr/>
          <p:nvPr/>
        </p:nvSpPr>
        <p:spPr>
          <a:xfrm>
            <a:off x="699112" y="1936376"/>
            <a:ext cx="1998133" cy="330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circuit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A5100DA-EC4B-4639-A94C-3C13FD8FC2C0}"/>
              </a:ext>
            </a:extLst>
          </p:cNvPr>
          <p:cNvSpPr/>
          <p:nvPr/>
        </p:nvSpPr>
        <p:spPr>
          <a:xfrm>
            <a:off x="3643155" y="1916343"/>
            <a:ext cx="2685921" cy="187572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C0463A-6811-464B-92B5-B8D4DA22052C}"/>
              </a:ext>
            </a:extLst>
          </p:cNvPr>
          <p:cNvSpPr/>
          <p:nvPr/>
        </p:nvSpPr>
        <p:spPr>
          <a:xfrm>
            <a:off x="3732808" y="2405830"/>
            <a:ext cx="2614198" cy="1166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Lattice Structure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Hybrid Structure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Tubular Pole Structure.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64A0B8-503F-48CB-A297-D0BF5E6EE498}"/>
              </a:ext>
            </a:extLst>
          </p:cNvPr>
          <p:cNvSpPr/>
          <p:nvPr/>
        </p:nvSpPr>
        <p:spPr>
          <a:xfrm>
            <a:off x="4164848" y="1920701"/>
            <a:ext cx="1642533" cy="330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type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F5736D-7035-44AC-952A-BF5F15C4D060}"/>
              </a:ext>
            </a:extLst>
          </p:cNvPr>
          <p:cNvSpPr/>
          <p:nvPr/>
        </p:nvSpPr>
        <p:spPr>
          <a:xfrm>
            <a:off x="7137773" y="1839148"/>
            <a:ext cx="1938117" cy="3435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capacity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DF8A80-F740-4D0B-89B8-FD7A335458BD}"/>
              </a:ext>
            </a:extLst>
          </p:cNvPr>
          <p:cNvSpPr/>
          <p:nvPr/>
        </p:nvSpPr>
        <p:spPr>
          <a:xfrm>
            <a:off x="7491007" y="2167716"/>
            <a:ext cx="1168399" cy="3168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11 kV,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33 kV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66 kV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110 kV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e) 132 kV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f) 220 kV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g) 400 kV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h) 500 kV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2A0061-AC3A-4572-A249-57C0C79E2273}"/>
              </a:ext>
            </a:extLst>
          </p:cNvPr>
          <p:cNvSpPr/>
          <p:nvPr/>
        </p:nvSpPr>
        <p:spPr>
          <a:xfrm>
            <a:off x="10109199" y="1720850"/>
            <a:ext cx="1778000" cy="330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 used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44E166-2EDE-460C-AE86-18527472559D}"/>
              </a:ext>
            </a:extLst>
          </p:cNvPr>
          <p:cNvSpPr/>
          <p:nvPr/>
        </p:nvSpPr>
        <p:spPr>
          <a:xfrm>
            <a:off x="10060384" y="2182671"/>
            <a:ext cx="2184398" cy="117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Steel Structure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Wooden Material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RCC Pole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8CE066-DAEC-4771-9B8A-802C8B551AF3}"/>
              </a:ext>
            </a:extLst>
          </p:cNvPr>
          <p:cNvCxnSpPr>
            <a:cxnSpLocks/>
          </p:cNvCxnSpPr>
          <p:nvPr/>
        </p:nvCxnSpPr>
        <p:spPr>
          <a:xfrm>
            <a:off x="3307977" y="1247588"/>
            <a:ext cx="0" cy="2657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6E04374-4514-4B75-9202-9542024F592C}"/>
              </a:ext>
            </a:extLst>
          </p:cNvPr>
          <p:cNvSpPr/>
          <p:nvPr/>
        </p:nvSpPr>
        <p:spPr>
          <a:xfrm>
            <a:off x="913650" y="3905008"/>
            <a:ext cx="4800594" cy="2463952"/>
          </a:xfrm>
          <a:prstGeom prst="roundRect">
            <a:avLst/>
          </a:prstGeom>
          <a:solidFill>
            <a:srgbClr val="DEF3F4"/>
          </a:solidFill>
          <a:ln>
            <a:solidFill>
              <a:srgbClr val="DEF3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B697171-0C21-43D2-A754-1B136524BCDE}"/>
              </a:ext>
            </a:extLst>
          </p:cNvPr>
          <p:cNvSpPr/>
          <p:nvPr/>
        </p:nvSpPr>
        <p:spPr>
          <a:xfrm>
            <a:off x="2357709" y="3896540"/>
            <a:ext cx="1998133" cy="330200"/>
          </a:xfrm>
          <a:prstGeom prst="rect">
            <a:avLst/>
          </a:prstGeom>
          <a:solidFill>
            <a:srgbClr val="34B6D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angle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61B92AE-2039-43BD-A0FD-3DD62CD86154}"/>
              </a:ext>
            </a:extLst>
          </p:cNvPr>
          <p:cNvSpPr/>
          <p:nvPr/>
        </p:nvSpPr>
        <p:spPr>
          <a:xfrm>
            <a:off x="1006787" y="4279659"/>
            <a:ext cx="4800594" cy="1964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a) A – type tower – angle of deviation 0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to 2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b) B – type tower – angle of deviation 2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to 15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c) C – type tower – angle of deviation 15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to 30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d) D – type tower – angle of deviation 30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to 60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e) E – type tower – angle of deviation 60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to 90</a:t>
            </a:r>
            <a:r>
              <a:rPr lang="en-IN" baseline="30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07B8E47-7403-46CE-BDD3-82990B0A9063}"/>
              </a:ext>
            </a:extLst>
          </p:cNvPr>
          <p:cNvSpPr/>
          <p:nvPr/>
        </p:nvSpPr>
        <p:spPr>
          <a:xfrm>
            <a:off x="9697996" y="4119555"/>
            <a:ext cx="2184343" cy="7762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Force applied by the conductor on the cross arms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AEC9D0-AB67-4CB7-A315-BA6C3C6A1E5C}"/>
              </a:ext>
            </a:extLst>
          </p:cNvPr>
          <p:cNvSpPr/>
          <p:nvPr/>
        </p:nvSpPr>
        <p:spPr>
          <a:xfrm>
            <a:off x="9604498" y="4895818"/>
            <a:ext cx="24499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lphaLcParenR"/>
            </a:pP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Tangent suspension tower</a:t>
            </a:r>
          </a:p>
          <a:p>
            <a:pPr marL="342900" indent="-342900">
              <a:buAutoNum type="alphaL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tower or tension tower</a:t>
            </a:r>
            <a:r>
              <a:rPr lang="en-IN" dirty="0"/>
              <a:t> 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14403D-DE23-4477-8B1C-BC659CD91CA8}"/>
              </a:ext>
            </a:extLst>
          </p:cNvPr>
          <p:cNvCxnSpPr>
            <a:cxnSpLocks/>
          </p:cNvCxnSpPr>
          <p:nvPr/>
        </p:nvCxnSpPr>
        <p:spPr>
          <a:xfrm>
            <a:off x="9736146" y="1256055"/>
            <a:ext cx="0" cy="2863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885C01-7904-481C-912D-474EC40F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4</a:t>
            </a:fld>
            <a:endParaRPr lang="en-IN" dirty="0"/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B9AC8D1C-A5E1-4E34-AFF6-4C750D2A8D31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79EA3E41-1559-4B1F-A560-2C49AA515CAF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70DCAD41-8272-42E2-9AE3-F764261D81C9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1AFA3DA7-BDB8-4208-8A51-ABA8C5E288D6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50" name="Arrow: Chevron 49">
            <a:extLst>
              <a:ext uri="{FF2B5EF4-FFF2-40B4-BE49-F238E27FC236}">
                <a16:creationId xmlns:a16="http://schemas.microsoft.com/office/drawing/2014/main" id="{833379BE-85C2-4C11-A2B8-0AC0D690FEFA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392494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C8380-3E6F-41E0-9D37-145C45E4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185B4-963A-4BA1-BA99-F3FE00E3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5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C7FAF5-5E27-473B-9A84-1663423C1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13" y="668881"/>
            <a:ext cx="2741330" cy="2716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B5A7A4-14AF-4C92-941B-D065DE4EF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721" y="699066"/>
            <a:ext cx="2761377" cy="2608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D88492-A9DC-4C56-8600-A58ED45AF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732" y="747941"/>
            <a:ext cx="2779183" cy="2554743"/>
          </a:xfrm>
          <a:prstGeom prst="rect">
            <a:avLst/>
          </a:prstGeom>
        </p:spPr>
      </p:pic>
      <p:pic>
        <p:nvPicPr>
          <p:cNvPr id="1028" name="Picture 4" descr="https://blogger.googleusercontent.com/img/b/R29vZ2xl/AVvXsEgYBGos9CjEKKkVzCi2bqp9L1QtJUpbD2ayc6JwktJhmrHkS6NB6uTMhf6G0R7tQXX55BKKDppDKrM-QkdPS72S93B91BnmTCsR5ZXnUrZfilSRGdsvQa1L-HM0UfLl8aHW0gzJeH9gdCRKzMWAcLypnc4tt8ipB0OSScFwIpKNHleL_uelIEPtWA/s2564/Picture16.png">
            <a:extLst>
              <a:ext uri="{FF2B5EF4-FFF2-40B4-BE49-F238E27FC236}">
                <a16:creationId xmlns:a16="http://schemas.microsoft.com/office/drawing/2014/main" id="{3581EA91-093B-4711-90AC-0B59400F6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082" y="620611"/>
            <a:ext cx="2779183" cy="271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blogger.googleusercontent.com/img/b/R29vZ2xl/AVvXsEg5_-y6Ywy5xivCwmg_QCzduvli85tOljaSWgIKQ5G0QjNYTPppyYrGeD12AimVckKm9R1ZCs97l0RcEUvYFHBeterfsGzhwKAaBm8ttiUT8oH1LoHjlIU2BCI-RyFJy_3OJlkqA7ByloXCKw913PNL9TzHNi06WnYMrR7CL0oSa9wN910357GWlw/s2564/Picture17.png">
            <a:extLst>
              <a:ext uri="{FF2B5EF4-FFF2-40B4-BE49-F238E27FC236}">
                <a16:creationId xmlns:a16="http://schemas.microsoft.com/office/drawing/2014/main" id="{237409AE-F74F-47EA-92F9-4230ED12D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13" y="3494136"/>
            <a:ext cx="2686558" cy="26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blogger.googleusercontent.com/img/b/R29vZ2xl/AVvXsEhruliMPm86vK0UE2PB4-U4EQPC_zFAbvh8N07pKxv-sNePuDzhY2IXQ2aBllEb3ufyD2ZppLivLTZPehl5pbHvihS3Ik3B98tat1V4femzlk0_dzNPskRdJIcq8jStXjZ0Pru0GqBSobHk_uhvY72cVNE6GTJ-cpXgsziZk0qN1HCh4MW0-0wQLA/s2564/Picture18.png">
            <a:extLst>
              <a:ext uri="{FF2B5EF4-FFF2-40B4-BE49-F238E27FC236}">
                <a16:creationId xmlns:a16="http://schemas.microsoft.com/office/drawing/2014/main" id="{8C7D0E47-B6CE-4CF7-9497-0C388CAE9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916" y="3459527"/>
            <a:ext cx="2779182" cy="271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blogger.googleusercontent.com/img/b/R29vZ2xl/AVvXsEhM7aJsVTg1Je3sydnxBOv-oVI0JlDEN8cWqy-6FIdpvdwmOjFFif6-oaWXj40R_P8J4a5xxwwEQv3Rwa5F3kaCGdDjpB6gx-1a3YQz7LISxddaWFrdr5ZXC4QIZhW59MmmF_-eUKqJaxCxrFa9ium8RWNxJ7pOqs-6MZJ5ClGEsZIPS_kgTKBWqQ/s2564/Picture19.png">
            <a:extLst>
              <a:ext uri="{FF2B5EF4-FFF2-40B4-BE49-F238E27FC236}">
                <a16:creationId xmlns:a16="http://schemas.microsoft.com/office/drawing/2014/main" id="{BE871356-1A53-4BEB-8C76-36B4C34B9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444254"/>
            <a:ext cx="2779182" cy="271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blogger.googleusercontent.com/img/b/R29vZ2xl/AVvXsEi4KUaBH0paUjl9hdOwiNqduH3wrzPPEOfGzp7UJIWd09VcRaU9MY3uXyJLdMWS50zYXRG92mso_pKxsHZQgcm9PTGiitn-ZbkdaEhbgemjihawo4kafEMbcfpkEEdbX6hjJGAybr6a0UwXYylWp4jc3ogtvkM9_FbGDsuGC8-DMn2U89FcXTekDA/s2564/Picture20.png">
            <a:extLst>
              <a:ext uri="{FF2B5EF4-FFF2-40B4-BE49-F238E27FC236}">
                <a16:creationId xmlns:a16="http://schemas.microsoft.com/office/drawing/2014/main" id="{57024831-7B26-4138-9806-18403EB26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082" y="3429000"/>
            <a:ext cx="2831770" cy="276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FAD0B6-DB42-4ADB-9ACD-2ED623696B6D}"/>
              </a:ext>
            </a:extLst>
          </p:cNvPr>
          <p:cNvCxnSpPr>
            <a:cxnSpLocks/>
          </p:cNvCxnSpPr>
          <p:nvPr/>
        </p:nvCxnSpPr>
        <p:spPr>
          <a:xfrm>
            <a:off x="186265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58FBE5-3332-484D-A386-6774907561DC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0" name="Picture 18" descr="Suspension and Strain Tower Side View">
            <a:extLst>
              <a:ext uri="{FF2B5EF4-FFF2-40B4-BE49-F238E27FC236}">
                <a16:creationId xmlns:a16="http://schemas.microsoft.com/office/drawing/2014/main" id="{00DEF58B-FA00-45F9-8EF2-BDBBF6E385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260"/>
          <a:stretch/>
        </p:blipFill>
        <p:spPr bwMode="auto">
          <a:xfrm>
            <a:off x="1122351" y="1921420"/>
            <a:ext cx="808670" cy="98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Angle Transmission Tower Top View">
            <a:extLst>
              <a:ext uri="{FF2B5EF4-FFF2-40B4-BE49-F238E27FC236}">
                <a16:creationId xmlns:a16="http://schemas.microsoft.com/office/drawing/2014/main" id="{38FF898C-F8F4-4935-A11A-AE38EB9CD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197" y="4984338"/>
            <a:ext cx="801101" cy="102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6BA00550-4EA0-4FA6-899B-A95E5CD381EF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3532F19D-BBC8-4394-B775-D07A24EE4B01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F0F7700D-50F5-47FD-B1B8-9FF25AEFFC00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C18A8777-0730-44DD-8D74-8D1F00E5F263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A56E588F-86D1-4784-BF97-E9F78C57ED32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97344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B5196-1A4E-409B-9FE2-21833094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54C7C-60E1-4160-AE02-FF023E9A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6</a:t>
            </a:fld>
            <a:endParaRPr lang="en-IN" dirty="0"/>
          </a:p>
        </p:txBody>
      </p:sp>
      <p:pic>
        <p:nvPicPr>
          <p:cNvPr id="2050" name="Picture 2" descr="https://blogger.googleusercontent.com/img/b/R29vZ2xl/AVvXsEi_Q2i8kIm0PnPSfuQ3SiaTP0WGYEpriZ42eW_smrIyDbEk6qoM_Yfuffg6C5rNhibWSTt2it1i9gH5L9qE_t2He9UoxN1YvTpU1dQhxquFfPVXgxej9o5PCgXUbUbejz-XpWb4rfnUTpelXKk1NVe_tNrLMWCHADWsya62oKkPtXia8RtihdA6sw/s2564/Picture21.png">
            <a:extLst>
              <a:ext uri="{FF2B5EF4-FFF2-40B4-BE49-F238E27FC236}">
                <a16:creationId xmlns:a16="http://schemas.microsoft.com/office/drawing/2014/main" id="{86B9076D-E7D0-48B0-90EB-8B6F0E0AA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69" y="698249"/>
            <a:ext cx="2421466" cy="236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blogger.googleusercontent.com/img/b/R29vZ2xl/AVvXsEj3xIvJRVD-FOAi6V4AUWwGwIxLFXjtoAgiPQ-1cnnjhnc-ltfWwZ8AD7ehOz-ql586rrRYz-4jRPbQC-KJI_OTImrL4DMfUYBKOZyrV4fe3hrHj8vn2Do7cZpMwcpJgUX6aSV2ZeWx8P8NyB3zavFbaT3HvYXWxbKYBkAaPE0EZSkFYzGKIGPRwQ/s2564/Picture22.png">
            <a:extLst>
              <a:ext uri="{FF2B5EF4-FFF2-40B4-BE49-F238E27FC236}">
                <a16:creationId xmlns:a16="http://schemas.microsoft.com/office/drawing/2014/main" id="{E7663B0E-01BB-4A88-9998-CCFC16559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057" y="698249"/>
            <a:ext cx="2421466" cy="236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blogger.googleusercontent.com/img/b/R29vZ2xl/AVvXsEj40xE5twx0XN1UtyTflzpyF9uOXFM7g72SpBZ2TRPQGwWUolXFQmrpBM0Rm6-siVXWrOqUxL4PGenPWIoVCtHiR2PAIs-Y6icZLz8uZRRIEKUIws6JCgPL9drytcY3Xm3IK2w7hWY2s4g1Yf1Gf2sYcTVNXcn3Q0vfIZYS9BwMgF6onOYuTL3wfQ/s2564/Picture23.png">
            <a:extLst>
              <a:ext uri="{FF2B5EF4-FFF2-40B4-BE49-F238E27FC236}">
                <a16:creationId xmlns:a16="http://schemas.microsoft.com/office/drawing/2014/main" id="{63854798-1494-4190-AC8B-B37C826C5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890" y="694637"/>
            <a:ext cx="2421467" cy="236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blogger.googleusercontent.com/img/b/R29vZ2xl/AVvXsEjRFFzRM986OJjDZeZHOrmFdMlasWhY8aiwIIgSBB3_aJTn89v8paL49FmiAfLVmr7vWRUbbehGtDChljBZhICwI0GMKVs5rXv4vOebjVUggk6ENlf_VTWOfBzK5EPm_zfGwbe_DRuqBHnUFo5qY2mmNfsbinoBxdL7D3_bZRO_IN8w6a2-6Vb46A/s2564/Picture24.png">
            <a:extLst>
              <a:ext uri="{FF2B5EF4-FFF2-40B4-BE49-F238E27FC236}">
                <a16:creationId xmlns:a16="http://schemas.microsoft.com/office/drawing/2014/main" id="{BBA806EF-3E98-4E3A-9DF0-C286FB9FC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376" y="3483324"/>
            <a:ext cx="2504327" cy="2447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s://blogger.googleusercontent.com/img/b/R29vZ2xl/AVvXsEic-iBK8tgYNP-6LM9WGs02BtDidsvdCFQYER6X9rWzqgq1XRhSbnQhXZub3EfjD1YEXiN964qRfo6zeVSOGkXnfnG-Ivr5cM5SPTSoy8Pd675T_PEqSgAWOsAGH7Q78VfpBBMecXAH6QwCxF00duwYmumG6eN2ILGukwHqsqp3jwznzVzOeqGoEA/s2564/Picture25.png">
            <a:extLst>
              <a:ext uri="{FF2B5EF4-FFF2-40B4-BE49-F238E27FC236}">
                <a16:creationId xmlns:a16="http://schemas.microsoft.com/office/drawing/2014/main" id="{C7E8B3DD-ED1E-417A-A959-FE884C91D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08" y="3408848"/>
            <a:ext cx="2656727" cy="25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Transmission Tower Types">
            <a:extLst>
              <a:ext uri="{FF2B5EF4-FFF2-40B4-BE49-F238E27FC236}">
                <a16:creationId xmlns:a16="http://schemas.microsoft.com/office/drawing/2014/main" id="{A8DC341E-9A58-41EB-8468-3ECA30EAB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111" y="732655"/>
            <a:ext cx="3566268" cy="523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2F0992-A2A9-4838-A9B5-4F8E8C547AFE}"/>
              </a:ext>
            </a:extLst>
          </p:cNvPr>
          <p:cNvCxnSpPr>
            <a:cxnSpLocks/>
          </p:cNvCxnSpPr>
          <p:nvPr/>
        </p:nvCxnSpPr>
        <p:spPr>
          <a:xfrm>
            <a:off x="186266" y="6337299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1F24F2-B3DB-4A2D-87F0-3D2FE9FECB3A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04DF5C3-A351-47B6-928D-21EB7811920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" t="9332" r="19852" b="4011"/>
          <a:stretch/>
        </p:blipFill>
        <p:spPr>
          <a:xfrm rot="5400000">
            <a:off x="8108884" y="1951540"/>
            <a:ext cx="5206206" cy="26924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65AB956-C422-47DD-BC67-55A4E9918983}"/>
              </a:ext>
            </a:extLst>
          </p:cNvPr>
          <p:cNvSpPr txBox="1"/>
          <p:nvPr/>
        </p:nvSpPr>
        <p:spPr>
          <a:xfrm>
            <a:off x="8864601" y="5971456"/>
            <a:ext cx="3327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Guyed mast tower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north of IIT Tirupati.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58A973-6A56-4358-9257-5AE83993C57E}"/>
              </a:ext>
            </a:extLst>
          </p:cNvPr>
          <p:cNvSpPr/>
          <p:nvPr/>
        </p:nvSpPr>
        <p:spPr>
          <a:xfrm>
            <a:off x="6266081" y="5942887"/>
            <a:ext cx="25043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www.savree.com/en/encyclopedia/electrical-transmission-towers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1AC68767-62D9-4048-8C42-DEBC2C042EF0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95F78456-C664-4ACE-84AD-EC7B7A11FFFD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4B642B2C-5A3B-4609-8A70-116DCB94E87E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59BF100D-22A2-416C-B20C-F026757D9CD9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8353B8D3-C2C6-4E54-BED5-73896C9C214A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4063470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AD49F-2048-4D3A-9E89-2F2D9F6C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9332" y="6399754"/>
            <a:ext cx="4114800" cy="365125"/>
          </a:xfrm>
        </p:spPr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A2D0D-6828-4655-A6F0-430678F0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7</a:t>
            </a:fld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7FCA7A-A563-4C61-83D4-ECB957FFBBC7}"/>
              </a:ext>
            </a:extLst>
          </p:cNvPr>
          <p:cNvCxnSpPr>
            <a:cxnSpLocks/>
          </p:cNvCxnSpPr>
          <p:nvPr/>
        </p:nvCxnSpPr>
        <p:spPr>
          <a:xfrm>
            <a:off x="186266" y="6405032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2E56A4-A5F0-4801-A377-5D7FE16192D7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B055FC7-FE13-4CB4-806D-03DEC8BBF028}"/>
              </a:ext>
            </a:extLst>
          </p:cNvPr>
          <p:cNvPicPr/>
          <p:nvPr/>
        </p:nvPicPr>
        <p:blipFill rotWithShape="1">
          <a:blip r:embed="rId2"/>
          <a:srcRect l="31682" t="12762" r="24296" b="7900"/>
          <a:stretch/>
        </p:blipFill>
        <p:spPr>
          <a:xfrm>
            <a:off x="8975176" y="584669"/>
            <a:ext cx="2700867" cy="397298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4EED4C-A597-4342-905B-4D7FF53CD781}"/>
              </a:ext>
            </a:extLst>
          </p:cNvPr>
          <p:cNvSpPr/>
          <p:nvPr/>
        </p:nvSpPr>
        <p:spPr>
          <a:xfrm>
            <a:off x="6355850" y="4529656"/>
            <a:ext cx="5722062" cy="1894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Minimum permissible ground clearance (H1).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Maximum sag of overhead conductor (H2).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Vertical spacing between the top and bottom conductors (H3).</a:t>
            </a: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Vertical clearance between the ground wire </a:t>
            </a:r>
          </a:p>
          <a:p>
            <a:pPr lvl="0">
              <a:lnSpc>
                <a:spcPct val="1500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top conductor (H4).</a:t>
            </a:r>
            <a:endParaRPr lang="en-IN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6F4B20-9A0E-4C2E-A021-E4B08E79966E}"/>
              </a:ext>
            </a:extLst>
          </p:cNvPr>
          <p:cNvPicPr/>
          <p:nvPr/>
        </p:nvPicPr>
        <p:blipFill rotWithShape="1">
          <a:blip r:embed="rId3"/>
          <a:srcRect l="10631" t="20736" r="9394" b="333"/>
          <a:stretch/>
        </p:blipFill>
        <p:spPr>
          <a:xfrm>
            <a:off x="307233" y="607483"/>
            <a:ext cx="2774632" cy="26860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E5E9FF-5381-423A-BCFF-D23E76EB44A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86265" y="3293532"/>
            <a:ext cx="2825855" cy="2867019"/>
          </a:xfrm>
          <a:prstGeom prst="rect">
            <a:avLst/>
          </a:prstGeom>
        </p:spPr>
      </p:pic>
      <p:pic>
        <p:nvPicPr>
          <p:cNvPr id="10" name="Picture 9" descr="Schematic diagram of the transmission tower. | Download Scientific Diagram">
            <a:extLst>
              <a:ext uri="{FF2B5EF4-FFF2-40B4-BE49-F238E27FC236}">
                <a16:creationId xmlns:a16="http://schemas.microsoft.com/office/drawing/2014/main" id="{1E2AE967-9E07-46DD-92BA-0DD9187467F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833" y="757572"/>
            <a:ext cx="2977834" cy="53183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1FA1E2-34B1-43D5-8B01-28F0AE5077B0}"/>
              </a:ext>
            </a:extLst>
          </p:cNvPr>
          <p:cNvSpPr/>
          <p:nvPr/>
        </p:nvSpPr>
        <p:spPr>
          <a:xfrm>
            <a:off x="1827612" y="6122755"/>
            <a:ext cx="35249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0070C0"/>
                </a:solidFill>
              </a:rPr>
              <a:t>https://www.electrical4u.com/electrical-transmission</a:t>
            </a:r>
          </a:p>
        </p:txBody>
      </p:sp>
      <p:pic>
        <p:nvPicPr>
          <p:cNvPr id="18" name="Picture 2" descr="Birds Nesting on Transmission Towers">
            <a:extLst>
              <a:ext uri="{FF2B5EF4-FFF2-40B4-BE49-F238E27FC236}">
                <a16:creationId xmlns:a16="http://schemas.microsoft.com/office/drawing/2014/main" id="{173B5306-FFBA-4B16-B1EC-A8FAD7726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667" y="774240"/>
            <a:ext cx="2601402" cy="235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D454CBE-83B4-4EAE-9E2D-60E0826DEF9C}"/>
              </a:ext>
            </a:extLst>
          </p:cNvPr>
          <p:cNvSpPr/>
          <p:nvPr/>
        </p:nvSpPr>
        <p:spPr>
          <a:xfrm>
            <a:off x="6301635" y="3155115"/>
            <a:ext cx="24410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- Nesting platform for bird nesting.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9FB5AA5A-D484-4418-A36A-402184297D27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4CB7B17A-D937-4EBE-B7E3-BF068B8E5F1F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A8FA2179-E67C-4ACC-B3D5-D79EA5C73D08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4FEAC441-1A47-4369-A6A6-7302A0294C1F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153CBFF9-EF53-40C9-A1AB-1317757A9802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3881879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F377F5-6D31-43B3-A7B7-D12FDAC8CBDB}"/>
              </a:ext>
            </a:extLst>
          </p:cNvPr>
          <p:cNvCxnSpPr/>
          <p:nvPr/>
        </p:nvCxnSpPr>
        <p:spPr>
          <a:xfrm>
            <a:off x="262467" y="6356350"/>
            <a:ext cx="1159086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48A03F-7CD1-41CD-884D-2E264912D102}"/>
              </a:ext>
            </a:extLst>
          </p:cNvPr>
          <p:cNvCxnSpPr/>
          <p:nvPr/>
        </p:nvCxnSpPr>
        <p:spPr>
          <a:xfrm>
            <a:off x="160867" y="536548"/>
            <a:ext cx="1159086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674EB0-DA06-4AE8-9F1E-B719AC7BD4A4}"/>
              </a:ext>
            </a:extLst>
          </p:cNvPr>
          <p:cNvSpPr/>
          <p:nvPr/>
        </p:nvSpPr>
        <p:spPr>
          <a:xfrm>
            <a:off x="367309" y="2887168"/>
            <a:ext cx="5384148" cy="541832"/>
          </a:xfrm>
          <a:prstGeom prst="roundRect">
            <a:avLst/>
          </a:prstGeom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decide the efficient code for tower design.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CF6145-6FDD-4055-BBB1-DE83B2B0DB2F}"/>
              </a:ext>
            </a:extLst>
          </p:cNvPr>
          <p:cNvSpPr/>
          <p:nvPr/>
        </p:nvSpPr>
        <p:spPr>
          <a:xfrm>
            <a:off x="367309" y="1989503"/>
            <a:ext cx="5384148" cy="541832"/>
          </a:xfrm>
          <a:prstGeom prst="roundRect">
            <a:avLst/>
          </a:prstGeom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select the efficient bracing configuration.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C39A45-862B-4E25-98AB-50EC98FA9EF3}"/>
              </a:ext>
            </a:extLst>
          </p:cNvPr>
          <p:cNvSpPr/>
          <p:nvPr/>
        </p:nvSpPr>
        <p:spPr>
          <a:xfrm>
            <a:off x="367309" y="3785020"/>
            <a:ext cx="6912707" cy="541832"/>
          </a:xfrm>
          <a:prstGeom prst="roundRect">
            <a:avLst/>
          </a:prstGeom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select the effective base width for the different wind zones.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851EE6-9E35-4D14-9CEF-6BBF2B25354E}"/>
              </a:ext>
            </a:extLst>
          </p:cNvPr>
          <p:cNvSpPr/>
          <p:nvPr/>
        </p:nvSpPr>
        <p:spPr>
          <a:xfrm>
            <a:off x="367309" y="4682685"/>
            <a:ext cx="7175555" cy="541832"/>
          </a:xfrm>
          <a:prstGeom prst="roundRect">
            <a:avLst/>
          </a:prstGeom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select the best sections out of angle and hollow tube sections.</a:t>
            </a:r>
            <a:endParaRPr lang="en-IN" sz="2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7E6396-72EB-4B2E-B504-76C4977A0E98}"/>
              </a:ext>
            </a:extLst>
          </p:cNvPr>
          <p:cNvSpPr/>
          <p:nvPr/>
        </p:nvSpPr>
        <p:spPr>
          <a:xfrm>
            <a:off x="367309" y="1056786"/>
            <a:ext cx="7100844" cy="541832"/>
          </a:xfrm>
          <a:prstGeom prst="roundRect">
            <a:avLst/>
          </a:prstGeom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select the efficient configuration (VCT and HCT) of towers.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140D57-A947-4848-AA26-C1242FB7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0602F-5B38-48B0-9E3A-2FF73743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8</a:t>
            </a:fld>
            <a:endParaRPr lang="en-IN" dirty="0"/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FA525AE8-B96C-4B26-B7BF-8CDCA089972E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5FF77EB4-7B60-4A0C-8E4D-CC5493C988DA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Objectives.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1DA8B357-C564-490D-9884-7343F9630C0C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B9EA547F-89FE-47C6-AE24-F754A3A56513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BDDFEF89-ACDC-4455-A5C2-615F820DBE09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3079199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30249BD-CA1E-470F-A3DC-A1C2777E18AF}"/>
              </a:ext>
            </a:extLst>
          </p:cNvPr>
          <p:cNvSpPr/>
          <p:nvPr/>
        </p:nvSpPr>
        <p:spPr>
          <a:xfrm>
            <a:off x="9990667" y="2277533"/>
            <a:ext cx="1142992" cy="1284995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7BDD6E-DD73-4811-BEE6-3A1838867754}"/>
              </a:ext>
            </a:extLst>
          </p:cNvPr>
          <p:cNvSpPr/>
          <p:nvPr/>
        </p:nvSpPr>
        <p:spPr>
          <a:xfrm>
            <a:off x="7873999" y="2222037"/>
            <a:ext cx="1346198" cy="115146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0F5D55-CE1B-417B-BC31-844A0110E24B}"/>
              </a:ext>
            </a:extLst>
          </p:cNvPr>
          <p:cNvSpPr/>
          <p:nvPr/>
        </p:nvSpPr>
        <p:spPr>
          <a:xfrm>
            <a:off x="5664198" y="2277533"/>
            <a:ext cx="1591730" cy="118063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49169-905E-48A9-BFC4-11C52B7EADE7}"/>
              </a:ext>
            </a:extLst>
          </p:cNvPr>
          <p:cNvSpPr/>
          <p:nvPr/>
        </p:nvSpPr>
        <p:spPr>
          <a:xfrm>
            <a:off x="2995501" y="2270427"/>
            <a:ext cx="1667403" cy="2401965"/>
          </a:xfrm>
          <a:prstGeom prst="rect">
            <a:avLst/>
          </a:prstGeom>
          <a:solidFill>
            <a:schemeClr val="bg1"/>
          </a:solidFill>
          <a:ln w="3175">
            <a:solidFill>
              <a:srgbClr val="34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9E092F-77FF-4DE5-AB83-6C5B90A3FC72}"/>
              </a:ext>
            </a:extLst>
          </p:cNvPr>
          <p:cNvSpPr/>
          <p:nvPr/>
        </p:nvSpPr>
        <p:spPr>
          <a:xfrm>
            <a:off x="770463" y="2277533"/>
            <a:ext cx="1574800" cy="2256871"/>
          </a:xfrm>
          <a:prstGeom prst="rect">
            <a:avLst/>
          </a:prstGeom>
          <a:solidFill>
            <a:schemeClr val="bg1"/>
          </a:solidFill>
          <a:ln w="31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25F524-F677-4313-9A5F-11004F7CBD29}"/>
              </a:ext>
            </a:extLst>
          </p:cNvPr>
          <p:cNvSpPr/>
          <p:nvPr/>
        </p:nvSpPr>
        <p:spPr>
          <a:xfrm>
            <a:off x="4538133" y="787400"/>
            <a:ext cx="3217334" cy="4064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FCC293-E501-4CFF-AB80-C720F434BE0E}"/>
              </a:ext>
            </a:extLst>
          </p:cNvPr>
          <p:cNvSpPr/>
          <p:nvPr/>
        </p:nvSpPr>
        <p:spPr>
          <a:xfrm>
            <a:off x="770467" y="1905000"/>
            <a:ext cx="1574800" cy="37253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E507-3D54-4FDB-BA43-E50C37539AC5}"/>
              </a:ext>
            </a:extLst>
          </p:cNvPr>
          <p:cNvSpPr/>
          <p:nvPr/>
        </p:nvSpPr>
        <p:spPr>
          <a:xfrm>
            <a:off x="3005663" y="1905000"/>
            <a:ext cx="1667402" cy="372533"/>
          </a:xfrm>
          <a:prstGeom prst="rect">
            <a:avLst/>
          </a:prstGeom>
          <a:solidFill>
            <a:srgbClr val="34B6D4"/>
          </a:solidFill>
          <a:ln>
            <a:solidFill>
              <a:srgbClr val="34B6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width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040C9-9AB6-415C-80A3-083190D7FA12}"/>
              </a:ext>
            </a:extLst>
          </p:cNvPr>
          <p:cNvSpPr/>
          <p:nvPr/>
        </p:nvSpPr>
        <p:spPr>
          <a:xfrm>
            <a:off x="5664199" y="1905000"/>
            <a:ext cx="1591734" cy="37253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55922-52E4-4AB4-91D2-A1FE3414D4F8}"/>
              </a:ext>
            </a:extLst>
          </p:cNvPr>
          <p:cNvSpPr/>
          <p:nvPr/>
        </p:nvSpPr>
        <p:spPr>
          <a:xfrm>
            <a:off x="7874000" y="1871133"/>
            <a:ext cx="1346200" cy="406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1DB1AA-858C-484A-95F8-4AE953CC7E34}"/>
              </a:ext>
            </a:extLst>
          </p:cNvPr>
          <p:cNvSpPr/>
          <p:nvPr/>
        </p:nvSpPr>
        <p:spPr>
          <a:xfrm>
            <a:off x="9990667" y="1871133"/>
            <a:ext cx="1143000" cy="4064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CA1130-4413-4BEE-8DFC-7C7625CA5190}"/>
              </a:ext>
            </a:extLst>
          </p:cNvPr>
          <p:cNvSpPr txBox="1"/>
          <p:nvPr/>
        </p:nvSpPr>
        <p:spPr>
          <a:xfrm>
            <a:off x="848364" y="2451829"/>
            <a:ext cx="11480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type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type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0C4BF-59DC-4185-B25D-4775678CAF2A}"/>
              </a:ext>
            </a:extLst>
          </p:cNvPr>
          <p:cNvSpPr txBox="1"/>
          <p:nvPr/>
        </p:nvSpPr>
        <p:spPr>
          <a:xfrm>
            <a:off x="3005663" y="2364068"/>
            <a:ext cx="16572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different wind zones :-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Z-1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Z-2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Z-3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Z-4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Z-5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E9ED2-2827-43C5-B636-70529A177569}"/>
              </a:ext>
            </a:extLst>
          </p:cNvPr>
          <p:cNvSpPr txBox="1"/>
          <p:nvPr/>
        </p:nvSpPr>
        <p:spPr>
          <a:xfrm>
            <a:off x="5757333" y="2440972"/>
            <a:ext cx="1172116" cy="87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036491-FA60-4C39-B102-7C60481FCD56}"/>
              </a:ext>
            </a:extLst>
          </p:cNvPr>
          <p:cNvSpPr txBox="1"/>
          <p:nvPr/>
        </p:nvSpPr>
        <p:spPr>
          <a:xfrm>
            <a:off x="7992533" y="2284168"/>
            <a:ext cx="9989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Tubular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96EEDC-4BFB-4745-8AAC-044A49A2D207}"/>
              </a:ext>
            </a:extLst>
          </p:cNvPr>
          <p:cNvSpPr txBox="1"/>
          <p:nvPr/>
        </p:nvSpPr>
        <p:spPr>
          <a:xfrm>
            <a:off x="10109201" y="2362199"/>
            <a:ext cx="7553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802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800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AISC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D7244A-41C2-446A-883B-E3F11B245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2E555C-2B30-4567-8F7E-C8A93E95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9</a:t>
            </a:fld>
            <a:endParaRPr lang="en-IN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FD1F65-8B71-4369-AB59-41A08945E4B1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211EFC-950B-4186-B613-EDF584E3BCDE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628DB3-76EE-4869-98F2-EA46D450D84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146800" y="11938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5CEB29-95E9-4141-B7B0-50EBEC894F39}"/>
              </a:ext>
            </a:extLst>
          </p:cNvPr>
          <p:cNvCxnSpPr>
            <a:cxnSpLocks/>
          </p:cNvCxnSpPr>
          <p:nvPr/>
        </p:nvCxnSpPr>
        <p:spPr>
          <a:xfrm>
            <a:off x="1422400" y="1422400"/>
            <a:ext cx="91397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FC31EA-01C9-4177-9D45-714F4AC238F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0562167" y="1422400"/>
            <a:ext cx="0" cy="448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CA9651-6785-4C79-8575-A43C0ACB359B}"/>
              </a:ext>
            </a:extLst>
          </p:cNvPr>
          <p:cNvCxnSpPr>
            <a:cxnSpLocks/>
          </p:cNvCxnSpPr>
          <p:nvPr/>
        </p:nvCxnSpPr>
        <p:spPr>
          <a:xfrm>
            <a:off x="8534400" y="1422400"/>
            <a:ext cx="0" cy="48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AF8D79-F9D1-449B-9AD4-82DD91993003}"/>
              </a:ext>
            </a:extLst>
          </p:cNvPr>
          <p:cNvCxnSpPr>
            <a:cxnSpLocks/>
          </p:cNvCxnSpPr>
          <p:nvPr/>
        </p:nvCxnSpPr>
        <p:spPr>
          <a:xfrm>
            <a:off x="6366934" y="1422400"/>
            <a:ext cx="0" cy="48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B670CA4-F08C-4D6B-B8F0-07488E197EA0}"/>
              </a:ext>
            </a:extLst>
          </p:cNvPr>
          <p:cNvCxnSpPr>
            <a:cxnSpLocks/>
          </p:cNvCxnSpPr>
          <p:nvPr/>
        </p:nvCxnSpPr>
        <p:spPr>
          <a:xfrm>
            <a:off x="3852334" y="1422400"/>
            <a:ext cx="0" cy="48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8FE82B5-4BFA-403C-81A1-7BAA1C196984}"/>
              </a:ext>
            </a:extLst>
          </p:cNvPr>
          <p:cNvCxnSpPr>
            <a:cxnSpLocks/>
          </p:cNvCxnSpPr>
          <p:nvPr/>
        </p:nvCxnSpPr>
        <p:spPr>
          <a:xfrm>
            <a:off x="1422400" y="1422400"/>
            <a:ext cx="0" cy="48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row: Chevron 43">
            <a:extLst>
              <a:ext uri="{FF2B5EF4-FFF2-40B4-BE49-F238E27FC236}">
                <a16:creationId xmlns:a16="http://schemas.microsoft.com/office/drawing/2014/main" id="{067E3A22-4742-4B72-9E84-87F688C35468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F4602915-D5BD-4E66-AAF6-6FACB5F8D916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Arrow: Chevron 45">
            <a:extLst>
              <a:ext uri="{FF2B5EF4-FFF2-40B4-BE49-F238E27FC236}">
                <a16:creationId xmlns:a16="http://schemas.microsoft.com/office/drawing/2014/main" id="{C3CD3FC2-ECFE-4CAF-B735-013F94D36869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048A5506-28AB-4B93-9F12-FB34DED807CA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026234A5-9D93-4D59-B59C-62DD8BA5CE18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302616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6E1ED-4B79-4C64-A9FB-BC7C0F7A6F4E}"/>
              </a:ext>
            </a:extLst>
          </p:cNvPr>
          <p:cNvSpPr/>
          <p:nvPr/>
        </p:nvSpPr>
        <p:spPr>
          <a:xfrm>
            <a:off x="186266" y="575475"/>
            <a:ext cx="3969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5.1 - SECTIONS COMPARASION</a:t>
            </a:r>
            <a:r>
              <a:rPr lang="en-IN" b="1" baseline="30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F4A534-CE06-4162-8CBA-801FD619F171}"/>
              </a:ext>
            </a:extLst>
          </p:cNvPr>
          <p:cNvCxnSpPr>
            <a:cxnSpLocks/>
          </p:cNvCxnSpPr>
          <p:nvPr/>
        </p:nvCxnSpPr>
        <p:spPr>
          <a:xfrm>
            <a:off x="186264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0C4A6D-37F4-4A7B-B50D-DAD457F52FEE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D0DEA-7B49-4135-BEB1-4770762EDA14}"/>
              </a:ext>
            </a:extLst>
          </p:cNvPr>
          <p:cNvSpPr/>
          <p:nvPr/>
        </p:nvSpPr>
        <p:spPr>
          <a:xfrm>
            <a:off x="2604280" y="937425"/>
            <a:ext cx="5130799" cy="3093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C20C0E-DAC2-439A-AF24-ACFE62DDEB49}"/>
              </a:ext>
            </a:extLst>
          </p:cNvPr>
          <p:cNvSpPr/>
          <p:nvPr/>
        </p:nvSpPr>
        <p:spPr>
          <a:xfrm>
            <a:off x="7828324" y="944807"/>
            <a:ext cx="4058873" cy="26986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CAE09-AD8B-4FE3-9B89-0A7D6EED86D7}"/>
              </a:ext>
            </a:extLst>
          </p:cNvPr>
          <p:cNvSpPr/>
          <p:nvPr/>
        </p:nvSpPr>
        <p:spPr>
          <a:xfrm>
            <a:off x="2604280" y="4144598"/>
            <a:ext cx="5104876" cy="2169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90AB9-3411-4E8D-B8AC-A3D5F50AD7FD}"/>
              </a:ext>
            </a:extLst>
          </p:cNvPr>
          <p:cNvSpPr/>
          <p:nvPr/>
        </p:nvSpPr>
        <p:spPr>
          <a:xfrm>
            <a:off x="7850463" y="3780323"/>
            <a:ext cx="4036735" cy="25548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2ADF3-FD0E-4185-8DEE-65AA262F7A2B}"/>
              </a:ext>
            </a:extLst>
          </p:cNvPr>
          <p:cNvSpPr/>
          <p:nvPr/>
        </p:nvSpPr>
        <p:spPr>
          <a:xfrm>
            <a:off x="4156135" y="993500"/>
            <a:ext cx="2756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Tower Specifications.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B57453-1F80-4407-A33C-32A6D3D1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5" t="19792" r="93085" b="71036"/>
          <a:stretch/>
        </p:blipFill>
        <p:spPr>
          <a:xfrm>
            <a:off x="3843866" y="1000882"/>
            <a:ext cx="372533" cy="392728"/>
          </a:xfrm>
          <a:prstGeom prst="rect">
            <a:avLst/>
          </a:prstGeom>
        </p:spPr>
      </p:pic>
      <p:pic>
        <p:nvPicPr>
          <p:cNvPr id="20" name="Graphic 19" descr="Bar chart RTL">
            <a:extLst>
              <a:ext uri="{FF2B5EF4-FFF2-40B4-BE49-F238E27FC236}">
                <a16:creationId xmlns:a16="http://schemas.microsoft.com/office/drawing/2014/main" id="{03407DE6-362A-468A-A1FC-A1B71E12F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3474" y="4187255"/>
            <a:ext cx="439750" cy="4397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02105E-FA14-4E21-8CBD-9767730F2E29}"/>
              </a:ext>
            </a:extLst>
          </p:cNvPr>
          <p:cNvSpPr/>
          <p:nvPr/>
        </p:nvSpPr>
        <p:spPr>
          <a:xfrm>
            <a:off x="4367825" y="4207075"/>
            <a:ext cx="2204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Tower Analyses.</a:t>
            </a:r>
          </a:p>
        </p:txBody>
      </p:sp>
      <p:pic>
        <p:nvPicPr>
          <p:cNvPr id="23" name="Graphic 22" descr="Computer">
            <a:extLst>
              <a:ext uri="{FF2B5EF4-FFF2-40B4-BE49-F238E27FC236}">
                <a16:creationId xmlns:a16="http://schemas.microsoft.com/office/drawing/2014/main" id="{3A7D1FFB-5098-407B-A64D-6F500CF35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0025" y="3795869"/>
            <a:ext cx="457200" cy="4572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0FD9476-C71B-40BE-9C55-DDBD7D1E5059}"/>
              </a:ext>
            </a:extLst>
          </p:cNvPr>
          <p:cNvSpPr/>
          <p:nvPr/>
        </p:nvSpPr>
        <p:spPr>
          <a:xfrm>
            <a:off x="8896493" y="3759136"/>
            <a:ext cx="20892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 ware Used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12041C-1818-478F-9C80-A3B98173E81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37083" y="984763"/>
            <a:ext cx="453030" cy="49964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5E9D14F-4FFF-4E99-AC16-7AC0D0CB8A48}"/>
              </a:ext>
            </a:extLst>
          </p:cNvPr>
          <p:cNvSpPr/>
          <p:nvPr/>
        </p:nvSpPr>
        <p:spPr>
          <a:xfrm>
            <a:off x="8752883" y="1025773"/>
            <a:ext cx="2488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Loads Considered.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CFAFCFF8-1504-4766-BF26-DB4DEE90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6894" y="1483730"/>
            <a:ext cx="405887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Self-weight (Dead load)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Conductors &amp; Hardware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 load on tower and conductors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Ice/Snow load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Earthquake/Dynamic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Load combinations for extreme conditions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92E9A98-E3E9-446E-BE88-8BB2C066D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316857"/>
              </p:ext>
            </p:extLst>
          </p:nvPr>
        </p:nvGraphicFramePr>
        <p:xfrm>
          <a:off x="2655121" y="1586998"/>
          <a:ext cx="5103757" cy="1737360"/>
        </p:xfrm>
        <a:graphic>
          <a:graphicData uri="http://schemas.openxmlformats.org/drawingml/2006/table">
            <a:tbl>
              <a:tblPr/>
              <a:tblGrid>
                <a:gridCol w="1549654">
                  <a:extLst>
                    <a:ext uri="{9D8B030D-6E8A-4147-A177-3AD203B41FA5}">
                      <a16:colId xmlns:a16="http://schemas.microsoft.com/office/drawing/2014/main" val="69222950"/>
                    </a:ext>
                  </a:extLst>
                </a:gridCol>
                <a:gridCol w="3554103">
                  <a:extLst>
                    <a:ext uri="{9D8B030D-6E8A-4147-A177-3AD203B41FA5}">
                      <a16:colId xmlns:a16="http://schemas.microsoft.com/office/drawing/2014/main" val="767777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             -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 legged suspended tower of 400 KV double circuit.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994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          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m.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4580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Sections         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 and closed hollow section.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306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X-Bracing and K-Bracing Patterns.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2166284"/>
                  </a:ext>
                </a:extLst>
              </a:tr>
            </a:tbl>
          </a:graphicData>
        </a:graphic>
      </p:graphicFrame>
      <p:sp>
        <p:nvSpPr>
          <p:cNvPr id="31" name="Rectangle 2">
            <a:extLst>
              <a:ext uri="{FF2B5EF4-FFF2-40B4-BE49-F238E27FC236}">
                <a16:creationId xmlns:a16="http://schemas.microsoft.com/office/drawing/2014/main" id="{67716FE0-3513-416F-9D7B-8F747B98F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8600" y="4863939"/>
            <a:ext cx="4876800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Static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analysis.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ysClr val="windowText" lastClr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850F789-0540-4D24-8B06-F634DEE1A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849" y="4225886"/>
            <a:ext cx="3991617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STAAD Pro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3D modeling and analysis.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DDC305C-85A9-482B-9E5A-F8699D79B1F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0817" t="4817" r="13133" b="2865"/>
          <a:stretch/>
        </p:blipFill>
        <p:spPr>
          <a:xfrm>
            <a:off x="291798" y="923219"/>
            <a:ext cx="1831763" cy="4708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2BD232-EB01-4502-B6A3-11B20D31BD60}"/>
              </a:ext>
            </a:extLst>
          </p:cNvPr>
          <p:cNvSpPr/>
          <p:nvPr/>
        </p:nvSpPr>
        <p:spPr>
          <a:xfrm>
            <a:off x="7918550" y="5113848"/>
            <a:ext cx="43472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broken wire and anti-cascading condition.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code is 802 part1.</a:t>
            </a:r>
            <a:endParaRPr lang="en-US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8D8844-971C-45F3-B7F0-E4B36DF77620}"/>
              </a:ext>
            </a:extLst>
          </p:cNvPr>
          <p:cNvSpPr/>
          <p:nvPr/>
        </p:nvSpPr>
        <p:spPr>
          <a:xfrm>
            <a:off x="11081313" y="5987018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747A0A-94C6-4CBA-B0E6-59CD644A48F9}"/>
              </a:ext>
            </a:extLst>
          </p:cNvPr>
          <p:cNvSpPr/>
          <p:nvPr/>
        </p:nvSpPr>
        <p:spPr>
          <a:xfrm>
            <a:off x="403437" y="6139891"/>
            <a:ext cx="16674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(IJAERD), vol. 4, 2017.</a:t>
            </a:r>
            <a:endParaRPr lang="en-IN" sz="1200" i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CDDA25-DE70-4E96-A777-B42FD2730ECC}"/>
              </a:ext>
            </a:extLst>
          </p:cNvPr>
          <p:cNvSpPr/>
          <p:nvPr/>
        </p:nvSpPr>
        <p:spPr>
          <a:xfrm>
            <a:off x="380299" y="5586909"/>
            <a:ext cx="23542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- Four legged suspended tower. </a:t>
            </a:r>
            <a:endParaRPr lang="en-IN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0A9772-93A8-4FFB-AC69-8950A407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385D1-50BA-476A-81D3-89A060EF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10</a:t>
            </a:fld>
            <a:endParaRPr lang="en-IN" dirty="0"/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21FB5A5B-1B63-492E-99CA-6C690DBB38F5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8F092A55-CEEE-4532-BD04-18CA128BA316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983602D5-BF7C-4584-B31C-F29BE856619C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C81D3558-264D-4E37-B5E7-1BAFC81F86F6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26342CA5-05CC-449B-9CBE-9867A05B5D63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2631919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3CC8A-EC72-4979-8E5B-CE751AA68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CA220-FA5C-46C6-84D6-F25C6876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11</a:t>
            </a:fld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BCD5C0-DBCD-427C-AA1D-0350388A8CFC}"/>
              </a:ext>
            </a:extLst>
          </p:cNvPr>
          <p:cNvCxnSpPr>
            <a:cxnSpLocks/>
          </p:cNvCxnSpPr>
          <p:nvPr/>
        </p:nvCxnSpPr>
        <p:spPr>
          <a:xfrm>
            <a:off x="186266" y="637116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034057-8FB7-4043-9C79-73A4C26B3DE8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784104-45B1-4901-BEEC-4D79743185C2}"/>
              </a:ext>
            </a:extLst>
          </p:cNvPr>
          <p:cNvSpPr txBox="1"/>
          <p:nvPr/>
        </p:nvSpPr>
        <p:spPr>
          <a:xfrm>
            <a:off x="4918381" y="2529085"/>
            <a:ext cx="1738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6 - RESULTS.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5482B6-A440-4B7F-BFF6-F0F14224ADFC}"/>
              </a:ext>
            </a:extLst>
          </p:cNvPr>
          <p:cNvSpPr txBox="1"/>
          <p:nvPr/>
        </p:nvSpPr>
        <p:spPr>
          <a:xfrm>
            <a:off x="1426414" y="5929466"/>
            <a:ext cx="373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- Deflections for various sections.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7130217-6081-4780-902F-4F88ADE7A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9734026"/>
              </p:ext>
            </p:extLst>
          </p:nvPr>
        </p:nvGraphicFramePr>
        <p:xfrm>
          <a:off x="901023" y="313822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58E806B-00D4-4770-8405-BC5358EA7160}"/>
              </a:ext>
            </a:extLst>
          </p:cNvPr>
          <p:cNvSpPr txBox="1"/>
          <p:nvPr/>
        </p:nvSpPr>
        <p:spPr>
          <a:xfrm>
            <a:off x="1675332" y="338530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83.2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CA8319A9-3412-4691-9FE3-ABF8FFFA3D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3835550"/>
              </p:ext>
            </p:extLst>
          </p:nvPr>
        </p:nvGraphicFramePr>
        <p:xfrm>
          <a:off x="6324600" y="313684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40BDCBC-DE22-4D77-834C-BA012799E5FA}"/>
              </a:ext>
            </a:extLst>
          </p:cNvPr>
          <p:cNvSpPr txBox="1"/>
          <p:nvPr/>
        </p:nvSpPr>
        <p:spPr>
          <a:xfrm>
            <a:off x="497863" y="756735"/>
            <a:ext cx="5378395" cy="1566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5 -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used to decide which section is better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Structural Deflection.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Economy (Weight and Cost).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Permissible Limits Check.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1FAD8-B52A-4CB2-9708-726F08E73F8A}"/>
              </a:ext>
            </a:extLst>
          </p:cNvPr>
          <p:cNvSpPr txBox="1"/>
          <p:nvPr/>
        </p:nvSpPr>
        <p:spPr>
          <a:xfrm>
            <a:off x="7242460" y="5975892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- Costs for various sections.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717161-6E86-4C8A-BED5-FB0D7DEB2E72}"/>
              </a:ext>
            </a:extLst>
          </p:cNvPr>
          <p:cNvSpPr/>
          <p:nvPr/>
        </p:nvSpPr>
        <p:spPr>
          <a:xfrm>
            <a:off x="11081313" y="5987018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840F6C-4842-4D96-BB2A-D2E5F753EF90}"/>
              </a:ext>
            </a:extLst>
          </p:cNvPr>
          <p:cNvSpPr/>
          <p:nvPr/>
        </p:nvSpPr>
        <p:spPr>
          <a:xfrm>
            <a:off x="2362523" y="3764360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65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7E9F6-4FBC-46E9-81DC-6D25C7CCEAE7}"/>
              </a:ext>
            </a:extLst>
          </p:cNvPr>
          <p:cNvSpPr/>
          <p:nvPr/>
        </p:nvSpPr>
        <p:spPr>
          <a:xfrm>
            <a:off x="3789677" y="355245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75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22F86B-7CE2-4292-8B6D-CF31D269663F}"/>
              </a:ext>
            </a:extLst>
          </p:cNvPr>
          <p:cNvSpPr/>
          <p:nvPr/>
        </p:nvSpPr>
        <p:spPr>
          <a:xfrm>
            <a:off x="4421998" y="3728028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038E8F-077C-4066-B5F8-4A2664B448A9}"/>
              </a:ext>
            </a:extLst>
          </p:cNvPr>
          <p:cNvSpPr/>
          <p:nvPr/>
        </p:nvSpPr>
        <p:spPr>
          <a:xfrm>
            <a:off x="9259197" y="4615418"/>
            <a:ext cx="1119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15,00,000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ABD09D-ECDE-48E4-95E1-B609DFAA5439}"/>
              </a:ext>
            </a:extLst>
          </p:cNvPr>
          <p:cNvSpPr/>
          <p:nvPr/>
        </p:nvSpPr>
        <p:spPr>
          <a:xfrm>
            <a:off x="7242460" y="3429000"/>
            <a:ext cx="1119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12,50,000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2EDE2183-5E29-4C30-9818-29CB4DB65A7E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90AD7A60-2529-4609-B901-3BF7B0613A38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68EDD966-F954-44E3-9FFD-EF3858708AAF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B21742B9-7C07-4205-9D3C-047617A90B43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3B599C77-12B5-4D14-8A26-D76F7F5337ED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2461304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46F55-1B13-4711-B4B7-0C502285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9099E-3C78-4249-B5E6-30AC1F11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12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0F9E04-289D-497D-B546-F68CF0E481F0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9C8349-4098-4885-99F4-54255F3E0FF0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87A5F2-5B22-4EE7-885B-BC403A845CA1}"/>
              </a:ext>
            </a:extLst>
          </p:cNvPr>
          <p:cNvSpPr txBox="1"/>
          <p:nvPr/>
        </p:nvSpPr>
        <p:spPr>
          <a:xfrm>
            <a:off x="470912" y="607483"/>
            <a:ext cx="2040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7 - Observations.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D2D727-7204-4172-89B1-47D1AF4953DE}"/>
              </a:ext>
            </a:extLst>
          </p:cNvPr>
          <p:cNvSpPr/>
          <p:nvPr/>
        </p:nvSpPr>
        <p:spPr>
          <a:xfrm>
            <a:off x="429463" y="1062396"/>
            <a:ext cx="112145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section was concluded as the four-legged transmission tower with “</a:t>
            </a:r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Hollow Sections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it was both structurally stiffer and more economical.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9A2BB-1160-4547-906C-3CBB8DF504AF}"/>
              </a:ext>
            </a:extLst>
          </p:cNvPr>
          <p:cNvSpPr txBox="1"/>
          <p:nvPr/>
        </p:nvSpPr>
        <p:spPr>
          <a:xfrm>
            <a:off x="470912" y="2220568"/>
            <a:ext cx="2180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8 - Reasons.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A25A4C-5D5D-4147-881E-7552DCBD6CF7}"/>
              </a:ext>
            </a:extLst>
          </p:cNvPr>
          <p:cNvSpPr/>
          <p:nvPr/>
        </p:nvSpPr>
        <p:spPr>
          <a:xfrm>
            <a:off x="7108214" y="2117137"/>
            <a:ext cx="3749744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9 - Challenges with Hollow Sections.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3BE084-3796-4E70-A994-79D64E84E3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72" r="2811" b="6204"/>
          <a:stretch/>
        </p:blipFill>
        <p:spPr>
          <a:xfrm>
            <a:off x="6536268" y="2901930"/>
            <a:ext cx="4953000" cy="31262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6C1FFE-E550-405C-94DD-63BC2E8A92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37" r="1556" b="6429"/>
          <a:stretch/>
        </p:blipFill>
        <p:spPr>
          <a:xfrm>
            <a:off x="609597" y="2690414"/>
            <a:ext cx="4952999" cy="3549258"/>
          </a:xfrm>
          <a:prstGeom prst="rect">
            <a:avLst/>
          </a:prstGeom>
        </p:spPr>
      </p:pic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3A7C4C4C-E063-4D08-884B-D7D315742558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62265F86-179B-42E0-9AFF-787B92030538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2AB46884-2547-4E61-B484-704DF3A0538F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2C466ADE-720D-4AE3-8C1A-BF7CDEE50B88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C5755415-CF5A-401B-A5FE-DD720646D923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1373774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6E1ED-4B79-4C64-A9FB-BC7C0F7A6F4E}"/>
              </a:ext>
            </a:extLst>
          </p:cNvPr>
          <p:cNvSpPr/>
          <p:nvPr/>
        </p:nvSpPr>
        <p:spPr>
          <a:xfrm>
            <a:off x="186266" y="575475"/>
            <a:ext cx="3786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5.2 - CONFIGURATION TYPES</a:t>
            </a:r>
            <a:r>
              <a:rPr lang="en-IN" b="1" baseline="30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F4A534-CE06-4162-8CBA-801FD619F171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0C4A6D-37F4-4A7B-B50D-DAD457F52FEE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D0DEA-7B49-4135-BEB1-4770762EDA14}"/>
              </a:ext>
            </a:extLst>
          </p:cNvPr>
          <p:cNvSpPr/>
          <p:nvPr/>
        </p:nvSpPr>
        <p:spPr>
          <a:xfrm>
            <a:off x="245533" y="940546"/>
            <a:ext cx="5731934" cy="3093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C20C0E-DAC2-439A-AF24-ACFE62DDEB49}"/>
              </a:ext>
            </a:extLst>
          </p:cNvPr>
          <p:cNvSpPr/>
          <p:nvPr/>
        </p:nvSpPr>
        <p:spPr>
          <a:xfrm>
            <a:off x="6155265" y="944807"/>
            <a:ext cx="5731934" cy="3093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CAE09-AD8B-4FE3-9B89-0A7D6EED86D7}"/>
              </a:ext>
            </a:extLst>
          </p:cNvPr>
          <p:cNvSpPr/>
          <p:nvPr/>
        </p:nvSpPr>
        <p:spPr>
          <a:xfrm>
            <a:off x="245533" y="4165600"/>
            <a:ext cx="5731934" cy="2169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90AB9-3411-4E8D-B8AC-A3D5F50AD7FD}"/>
              </a:ext>
            </a:extLst>
          </p:cNvPr>
          <p:cNvSpPr/>
          <p:nvPr/>
        </p:nvSpPr>
        <p:spPr>
          <a:xfrm>
            <a:off x="6155265" y="4165600"/>
            <a:ext cx="5731934" cy="2169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2ADF3-FD0E-4185-8DEE-65AA262F7A2B}"/>
              </a:ext>
            </a:extLst>
          </p:cNvPr>
          <p:cNvSpPr/>
          <p:nvPr/>
        </p:nvSpPr>
        <p:spPr>
          <a:xfrm>
            <a:off x="2016785" y="979058"/>
            <a:ext cx="2756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Tower Specifications.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B57453-1F80-4407-A33C-32A6D3D1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6" t="19282" r="92153" b="70380"/>
          <a:stretch/>
        </p:blipFill>
        <p:spPr>
          <a:xfrm>
            <a:off x="1473490" y="956087"/>
            <a:ext cx="649570" cy="560102"/>
          </a:xfrm>
          <a:prstGeom prst="rect">
            <a:avLst/>
          </a:prstGeom>
        </p:spPr>
      </p:pic>
      <p:pic>
        <p:nvPicPr>
          <p:cNvPr id="20" name="Graphic 19" descr="Bar chart RTL">
            <a:extLst>
              <a:ext uri="{FF2B5EF4-FFF2-40B4-BE49-F238E27FC236}">
                <a16:creationId xmlns:a16="http://schemas.microsoft.com/office/drawing/2014/main" id="{03407DE6-362A-468A-A1FC-A1B71E12F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1854" y="4149312"/>
            <a:ext cx="518524" cy="51852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02105E-FA14-4E21-8CBD-9767730F2E29}"/>
              </a:ext>
            </a:extLst>
          </p:cNvPr>
          <p:cNvSpPr/>
          <p:nvPr/>
        </p:nvSpPr>
        <p:spPr>
          <a:xfrm>
            <a:off x="2016785" y="4199864"/>
            <a:ext cx="2204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Tower Analyses.</a:t>
            </a:r>
          </a:p>
        </p:txBody>
      </p:sp>
      <p:pic>
        <p:nvPicPr>
          <p:cNvPr id="23" name="Graphic 22" descr="Computer">
            <a:extLst>
              <a:ext uri="{FF2B5EF4-FFF2-40B4-BE49-F238E27FC236}">
                <a16:creationId xmlns:a16="http://schemas.microsoft.com/office/drawing/2014/main" id="{3A7D1FFB-5098-407B-A64D-6F500CF35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8236" y="5312689"/>
            <a:ext cx="457200" cy="4572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0FD9476-C71B-40BE-9C55-DDBD7D1E5059}"/>
              </a:ext>
            </a:extLst>
          </p:cNvPr>
          <p:cNvSpPr/>
          <p:nvPr/>
        </p:nvSpPr>
        <p:spPr>
          <a:xfrm>
            <a:off x="2093234" y="5349426"/>
            <a:ext cx="18327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 ware Used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12041C-1818-478F-9C80-A3B98173E81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09231" y="4196023"/>
            <a:ext cx="551034" cy="60772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5E9D14F-4FFF-4E99-AC16-7AC0D0CB8A48}"/>
              </a:ext>
            </a:extLst>
          </p:cNvPr>
          <p:cNvSpPr/>
          <p:nvPr/>
        </p:nvSpPr>
        <p:spPr>
          <a:xfrm>
            <a:off x="7860265" y="4144414"/>
            <a:ext cx="2488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Loads Considered.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CFAFCFF8-1504-4766-BF26-DB4DEE90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7848" y="4731788"/>
            <a:ext cx="485861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Self-weight (Dead load)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Conductors &amp; Hardware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 load on tower and conductors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Ice/Snow load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Earthquake/Dynamic load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92E9A98-E3E9-446E-BE88-8BB2C066D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174994"/>
              </p:ext>
            </p:extLst>
          </p:nvPr>
        </p:nvGraphicFramePr>
        <p:xfrm>
          <a:off x="563437" y="1327154"/>
          <a:ext cx="5397095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6371">
                  <a:extLst>
                    <a:ext uri="{9D8B030D-6E8A-4147-A177-3AD203B41FA5}">
                      <a16:colId xmlns:a16="http://schemas.microsoft.com/office/drawing/2014/main" val="69222950"/>
                    </a:ext>
                  </a:extLst>
                </a:gridCol>
                <a:gridCol w="3840724">
                  <a:extLst>
                    <a:ext uri="{9D8B030D-6E8A-4147-A177-3AD203B41FA5}">
                      <a16:colId xmlns:a16="http://schemas.microsoft.com/office/drawing/2014/main" val="767777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             -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132 kV double circuit self-supporting angle tower.</a:t>
                      </a:r>
                      <a:endParaRPr lang="en-IN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4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      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HCT = 38.83 m &amp; VCT = 44.85m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580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Span              -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83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Width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 m for both VCT and HCT.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95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     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 steel and High tensile steel.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06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Vertical Configured Tower and Horizontal configured tower.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166284"/>
                  </a:ext>
                </a:extLst>
              </a:tr>
            </a:tbl>
          </a:graphicData>
        </a:graphic>
      </p:graphicFrame>
      <p:sp>
        <p:nvSpPr>
          <p:cNvPr id="31" name="Rectangle 2">
            <a:extLst>
              <a:ext uri="{FF2B5EF4-FFF2-40B4-BE49-F238E27FC236}">
                <a16:creationId xmlns:a16="http://schemas.microsoft.com/office/drawing/2014/main" id="{67716FE0-3513-416F-9D7B-8F747B98F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945" y="4659452"/>
            <a:ext cx="2739110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Linear Static Analysis.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850F789-0540-4D24-8B06-F634DEE1A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854" y="5751042"/>
            <a:ext cx="4347216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STAAD Pro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3D modeling and analysis.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C0C2FDD-BA8B-4C01-AC34-22D155910EC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090" t="2374" r="6528" b="1121"/>
          <a:stretch/>
        </p:blipFill>
        <p:spPr>
          <a:xfrm>
            <a:off x="6295371" y="1173644"/>
            <a:ext cx="5151562" cy="25940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2544169-11B1-47FE-9A26-901C1071448D}"/>
              </a:ext>
            </a:extLst>
          </p:cNvPr>
          <p:cNvSpPr txBox="1"/>
          <p:nvPr/>
        </p:nvSpPr>
        <p:spPr>
          <a:xfrm>
            <a:off x="7099513" y="37015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C5BBB6-8C39-46C7-9C22-D00F0076B9DC}"/>
              </a:ext>
            </a:extLst>
          </p:cNvPr>
          <p:cNvSpPr/>
          <p:nvPr/>
        </p:nvSpPr>
        <p:spPr>
          <a:xfrm>
            <a:off x="9768992" y="369186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HCT</a:t>
            </a:r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8F8C3-42D3-4BEC-AAF9-950804DE1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4C828B-55A7-4D71-8643-5F29AD78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13</a:t>
            </a:fld>
            <a:endParaRPr lang="en-IN" dirty="0"/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0170E463-F349-4016-9C7B-55F2600518EF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360E48DD-D7C7-4EFF-BB59-F5E7C3B510B3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8152A6D7-E2DF-4970-AE91-CA9D8A69C2B5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5B8B5259-5EBE-452E-BE6A-61125DEBEEFE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C26E2810-3139-422D-BC1D-B4D407284A5A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5215D8-4488-4457-9A8C-3334FC9E9D3A}"/>
              </a:ext>
            </a:extLst>
          </p:cNvPr>
          <p:cNvCxnSpPr>
            <a:cxnSpLocks/>
          </p:cNvCxnSpPr>
          <p:nvPr/>
        </p:nvCxnSpPr>
        <p:spPr>
          <a:xfrm>
            <a:off x="8449258" y="1173644"/>
            <a:ext cx="0" cy="2594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23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0196D-041F-421C-8BBC-9587B8A7F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25BB2-0E9D-4CF8-AC51-A0418702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14</a:t>
            </a:fld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2F3819-F3F1-43C2-A893-2C7259A9FE41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9F7A57-713F-4BDE-A43C-59D6BD04DB50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4726A6-2634-4AC4-8EC4-20F9709DEF7E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A40078-B703-4025-9894-2FAA07164C0A}"/>
              </a:ext>
            </a:extLst>
          </p:cNvPr>
          <p:cNvSpPr txBox="1"/>
          <p:nvPr/>
        </p:nvSpPr>
        <p:spPr>
          <a:xfrm>
            <a:off x="355599" y="642989"/>
            <a:ext cx="1519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GRAPHS.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2DC1C9-421A-408B-865A-83FA3A8E4A8F}"/>
              </a:ext>
            </a:extLst>
          </p:cNvPr>
          <p:cNvSpPr/>
          <p:nvPr/>
        </p:nvSpPr>
        <p:spPr>
          <a:xfrm>
            <a:off x="11081313" y="5987018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2797404C-BE6C-49EA-8260-0A5195CDB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378364"/>
              </p:ext>
            </p:extLst>
          </p:nvPr>
        </p:nvGraphicFramePr>
        <p:xfrm>
          <a:off x="6426103" y="1600219"/>
          <a:ext cx="4563575" cy="3047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E2258975-265A-4808-BF68-1C3C5D2410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538944"/>
              </p:ext>
            </p:extLst>
          </p:nvPr>
        </p:nvGraphicFramePr>
        <p:xfrm>
          <a:off x="508985" y="1600219"/>
          <a:ext cx="4968947" cy="3508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FE68B8DE-F57B-42BB-B5AC-2B8657E7CA95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9F632075-564D-4F22-BDAF-DF305E3E16F1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748CC796-97EA-4A5C-858A-3172D051841C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65127F37-1DF8-4009-85D2-E34F1D7E58D6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DFF9DA27-7C65-4996-AE96-48F5EAE1DAC3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1890615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F154C-2512-4143-B96D-795943B9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EC66F-D179-4B62-AFD7-5C9CF143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15</a:t>
            </a:fld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EF3511-A6CB-40AD-9111-421EF855E208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7A9F95-2156-461F-993F-74ED8179F4E9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6C1A56-2A6A-45B7-92F0-A682D64E2B44}"/>
              </a:ext>
            </a:extLst>
          </p:cNvPr>
          <p:cNvSpPr txBox="1"/>
          <p:nvPr/>
        </p:nvSpPr>
        <p:spPr>
          <a:xfrm>
            <a:off x="1698179" y="758978"/>
            <a:ext cx="2252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OBSERVATIONS.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CAE16-C3A5-430B-A616-3908B9D8F556}"/>
              </a:ext>
            </a:extLst>
          </p:cNvPr>
          <p:cNvSpPr txBox="1"/>
          <p:nvPr/>
        </p:nvSpPr>
        <p:spPr>
          <a:xfrm>
            <a:off x="8610600" y="722665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REASONS.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56F5F6-964C-4665-B8C5-E98709D2D6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3" t="14001" r="1984" b="7325"/>
          <a:stretch/>
        </p:blipFill>
        <p:spPr>
          <a:xfrm>
            <a:off x="6920642" y="1630361"/>
            <a:ext cx="3979333" cy="42340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465698-34E5-4D6B-8D0D-5836351D70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51" r="1567" b="7710"/>
          <a:stretch/>
        </p:blipFill>
        <p:spPr>
          <a:xfrm>
            <a:off x="245532" y="1938344"/>
            <a:ext cx="5850467" cy="33104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56E2EA-55A8-4993-B37E-2151004D3240}"/>
              </a:ext>
            </a:extLst>
          </p:cNvPr>
          <p:cNvSpPr txBox="1"/>
          <p:nvPr/>
        </p:nvSpPr>
        <p:spPr>
          <a:xfrm>
            <a:off x="533368" y="1232666"/>
            <a:ext cx="4077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between weight and cost savings.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04F1C6-C4FE-4FE8-A228-22E3CC4CEDC4}"/>
              </a:ext>
            </a:extLst>
          </p:cNvPr>
          <p:cNvSpPr/>
          <p:nvPr/>
        </p:nvSpPr>
        <p:spPr>
          <a:xfrm>
            <a:off x="7524443" y="1153319"/>
            <a:ext cx="36215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vs Horizontal Configuration.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006F205E-594A-4192-8893-38D35D11FB15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BE6AA093-ACBE-4236-B922-699A613607DF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A38B1F51-69C7-4617-B393-D0DE3B77F6C8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0FB13414-7B10-4828-A248-B5A2D4CD9277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3A7D62C9-1641-40C4-B34F-C6C6EB068547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E98F4-1E75-4DF8-BB33-2763A93AAEC4}"/>
              </a:ext>
            </a:extLst>
          </p:cNvPr>
          <p:cNvSpPr/>
          <p:nvPr/>
        </p:nvSpPr>
        <p:spPr>
          <a:xfrm>
            <a:off x="1092200" y="4004733"/>
            <a:ext cx="956733" cy="465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ysClr val="windowText" lastClr="000000"/>
                </a:solidFill>
                <a:latin typeface="+mj-lt"/>
                <a:cs typeface="Times New Roman" panose="02020603050405020304" pitchFamily="18" charset="0"/>
              </a:rPr>
              <a:t>HCT</a:t>
            </a:r>
          </a:p>
        </p:txBody>
      </p:sp>
    </p:spTree>
    <p:extLst>
      <p:ext uri="{BB962C8B-B14F-4D97-AF65-F5344CB8AC3E}">
        <p14:creationId xmlns:p14="http://schemas.microsoft.com/office/powerpoint/2010/main" val="3725032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6E1ED-4B79-4C64-A9FB-BC7C0F7A6F4E}"/>
              </a:ext>
            </a:extLst>
          </p:cNvPr>
          <p:cNvSpPr/>
          <p:nvPr/>
        </p:nvSpPr>
        <p:spPr>
          <a:xfrm>
            <a:off x="186266" y="575475"/>
            <a:ext cx="4279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5.3 - BASE WIDTH COMPARASION</a:t>
            </a:r>
            <a:r>
              <a:rPr lang="en-IN" b="1" baseline="30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F4A534-CE06-4162-8CBA-801FD619F171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0C4A6D-37F4-4A7B-B50D-DAD457F52FEE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D0DEA-7B49-4135-BEB1-4770762EDA14}"/>
              </a:ext>
            </a:extLst>
          </p:cNvPr>
          <p:cNvSpPr/>
          <p:nvPr/>
        </p:nvSpPr>
        <p:spPr>
          <a:xfrm>
            <a:off x="245533" y="940545"/>
            <a:ext cx="5731934" cy="3383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C20C0E-DAC2-439A-AF24-ACFE62DDEB49}"/>
              </a:ext>
            </a:extLst>
          </p:cNvPr>
          <p:cNvSpPr/>
          <p:nvPr/>
        </p:nvSpPr>
        <p:spPr>
          <a:xfrm>
            <a:off x="6155265" y="944807"/>
            <a:ext cx="5731934" cy="3093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CAE09-AD8B-4FE3-9B89-0A7D6EED86D7}"/>
              </a:ext>
            </a:extLst>
          </p:cNvPr>
          <p:cNvSpPr/>
          <p:nvPr/>
        </p:nvSpPr>
        <p:spPr>
          <a:xfrm>
            <a:off x="291534" y="4452049"/>
            <a:ext cx="5731934" cy="18831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90AB9-3411-4E8D-B8AC-A3D5F50AD7FD}"/>
              </a:ext>
            </a:extLst>
          </p:cNvPr>
          <p:cNvSpPr/>
          <p:nvPr/>
        </p:nvSpPr>
        <p:spPr>
          <a:xfrm>
            <a:off x="6155265" y="4165600"/>
            <a:ext cx="5731934" cy="2169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2ADF3-FD0E-4185-8DEE-65AA262F7A2B}"/>
              </a:ext>
            </a:extLst>
          </p:cNvPr>
          <p:cNvSpPr/>
          <p:nvPr/>
        </p:nvSpPr>
        <p:spPr>
          <a:xfrm>
            <a:off x="1274149" y="930445"/>
            <a:ext cx="2756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Tower Specifications.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B57453-1F80-4407-A33C-32A6D3D1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6" t="18256" r="93816" b="68478"/>
          <a:stretch/>
        </p:blipFill>
        <p:spPr>
          <a:xfrm>
            <a:off x="924025" y="939992"/>
            <a:ext cx="334771" cy="499819"/>
          </a:xfrm>
          <a:prstGeom prst="rect">
            <a:avLst/>
          </a:prstGeom>
        </p:spPr>
      </p:pic>
      <p:pic>
        <p:nvPicPr>
          <p:cNvPr id="20" name="Graphic 19" descr="Bar chart RTL">
            <a:extLst>
              <a:ext uri="{FF2B5EF4-FFF2-40B4-BE49-F238E27FC236}">
                <a16:creationId xmlns:a16="http://schemas.microsoft.com/office/drawing/2014/main" id="{03407DE6-362A-468A-A1FC-A1B71E12F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077" y="4414471"/>
            <a:ext cx="518524" cy="51852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02105E-FA14-4E21-8CBD-9767730F2E29}"/>
              </a:ext>
            </a:extLst>
          </p:cNvPr>
          <p:cNvSpPr/>
          <p:nvPr/>
        </p:nvSpPr>
        <p:spPr>
          <a:xfrm>
            <a:off x="2399728" y="4429571"/>
            <a:ext cx="2204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Tower Analyses.</a:t>
            </a:r>
          </a:p>
        </p:txBody>
      </p:sp>
      <p:pic>
        <p:nvPicPr>
          <p:cNvPr id="23" name="Graphic 22" descr="Computer">
            <a:extLst>
              <a:ext uri="{FF2B5EF4-FFF2-40B4-BE49-F238E27FC236}">
                <a16:creationId xmlns:a16="http://schemas.microsoft.com/office/drawing/2014/main" id="{3A7D1FFB-5098-407B-A64D-6F500CF35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7568" y="4175826"/>
            <a:ext cx="457200" cy="4572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0FD9476-C71B-40BE-9C55-DDBD7D1E5059}"/>
              </a:ext>
            </a:extLst>
          </p:cNvPr>
          <p:cNvSpPr/>
          <p:nvPr/>
        </p:nvSpPr>
        <p:spPr>
          <a:xfrm>
            <a:off x="8104859" y="4143061"/>
            <a:ext cx="20892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 ware Used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12041C-1818-478F-9C80-A3B98173E81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68555" y="990053"/>
            <a:ext cx="442103" cy="4875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5E9D14F-4FFF-4E99-AC16-7AC0D0CB8A48}"/>
              </a:ext>
            </a:extLst>
          </p:cNvPr>
          <p:cNvSpPr/>
          <p:nvPr/>
        </p:nvSpPr>
        <p:spPr>
          <a:xfrm>
            <a:off x="7898264" y="999625"/>
            <a:ext cx="2488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Loads Considered.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CFAFCFF8-1504-4766-BF26-DB4DEE90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677" y="1545601"/>
            <a:ext cx="4858618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Self-weight (Dead load)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Conductors &amp; Hardware load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 load on tower and conductors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Ice/Snow load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Torsional &amp; Longitudinal wind effects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92E9A98-E3E9-446E-BE88-8BB2C066D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242338"/>
              </p:ext>
            </p:extLst>
          </p:nvPr>
        </p:nvGraphicFramePr>
        <p:xfrm>
          <a:off x="289559" y="1407228"/>
          <a:ext cx="5461000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88065">
                  <a:extLst>
                    <a:ext uri="{9D8B030D-6E8A-4147-A177-3AD203B41FA5}">
                      <a16:colId xmlns:a16="http://schemas.microsoft.com/office/drawing/2014/main" val="69222950"/>
                    </a:ext>
                  </a:extLst>
                </a:gridCol>
                <a:gridCol w="3572935">
                  <a:extLst>
                    <a:ext uri="{9D8B030D-6E8A-4147-A177-3AD203B41FA5}">
                      <a16:colId xmlns:a16="http://schemas.microsoft.com/office/drawing/2014/main" val="767777574"/>
                    </a:ext>
                  </a:extLst>
                </a:gridCol>
              </a:tblGrid>
              <a:tr h="61192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                   -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Self-supporting lattice </a:t>
                      </a:r>
                    </a:p>
                    <a:p>
                      <a:r>
                        <a:rPr lang="en-US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steel transmission tower</a:t>
                      </a:r>
                      <a:endParaRPr lang="en-IN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40400"/>
                  </a:ext>
                </a:extLst>
              </a:tr>
              <a:tr h="34967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            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34.120 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580756"/>
                  </a:ext>
                </a:extLst>
              </a:tr>
              <a:tr h="34967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width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-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 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833520"/>
                  </a:ext>
                </a:extLst>
              </a:tr>
              <a:tr h="34967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Width     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6.307 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950309"/>
                  </a:ext>
                </a:extLst>
              </a:tr>
              <a:tr h="34967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 arm length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9.2 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276059"/>
                  </a:ext>
                </a:extLst>
              </a:tr>
              <a:tr h="349672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          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Steel (Fe415)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069500"/>
                  </a:ext>
                </a:extLst>
              </a:tr>
              <a:tr h="34967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Sections used  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0916181"/>
                  </a:ext>
                </a:extLst>
              </a:tr>
            </a:tbl>
          </a:graphicData>
        </a:graphic>
      </p:graphicFrame>
      <p:sp>
        <p:nvSpPr>
          <p:cNvPr id="31" name="Rectangle 2">
            <a:extLst>
              <a:ext uri="{FF2B5EF4-FFF2-40B4-BE49-F238E27FC236}">
                <a16:creationId xmlns:a16="http://schemas.microsoft.com/office/drawing/2014/main" id="{67716FE0-3513-416F-9D7B-8F747B98F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175" y="4882597"/>
            <a:ext cx="5182587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Linear Static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base comparison under normal loads.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850F789-0540-4D24-8B06-F634DEE1A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2" y="4926553"/>
            <a:ext cx="4298741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STAAD Pro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3D modeling and analysis.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488FC6-456A-4732-8D87-6460E07F647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5363" r="7646" b="3116"/>
          <a:stretch/>
        </p:blipFill>
        <p:spPr>
          <a:xfrm>
            <a:off x="4522376" y="990053"/>
            <a:ext cx="1403438" cy="318577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9B9EE-D02E-4257-9799-B4E77B06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68EDE-2127-4BC0-8ED0-39AE04D3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16</a:t>
            </a:fld>
            <a:endParaRPr lang="en-IN" dirty="0"/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B6635AA8-12E7-4270-B25C-EF580F3ED3A4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8856FB41-0C96-4BE7-B33B-DDB9E210F3B9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D012673B-111D-4C48-BCB2-F51F255640E4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036F64DB-70D6-4660-A801-196635DBA12E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65C391A4-BFDA-460C-87E3-0CF47D173726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2547072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21AAFE-5720-4951-A64C-907ADB0CF2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845" r="625"/>
          <a:stretch/>
        </p:blipFill>
        <p:spPr>
          <a:xfrm>
            <a:off x="643446" y="1580637"/>
            <a:ext cx="3977009" cy="20482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FAE82D9-4789-47BA-88D3-57011B8D8AF9}"/>
              </a:ext>
            </a:extLst>
          </p:cNvPr>
          <p:cNvSpPr/>
          <p:nvPr/>
        </p:nvSpPr>
        <p:spPr>
          <a:xfrm>
            <a:off x="449200" y="1002560"/>
            <a:ext cx="43655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Graph between k values and base widths for 34.120m and 55m heights.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54BD8-FC7E-41DF-9249-B24979A875E0}"/>
              </a:ext>
            </a:extLst>
          </p:cNvPr>
          <p:cNvSpPr/>
          <p:nvPr/>
        </p:nvSpPr>
        <p:spPr>
          <a:xfrm>
            <a:off x="449200" y="3661978"/>
            <a:ext cx="45856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 Graph between k values and height to width ratios for 34.120m and 55m heights.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537A89-E40C-4592-82CE-5E08A7B49F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4" t="3757" r="2579" b="3296"/>
          <a:stretch/>
        </p:blipFill>
        <p:spPr>
          <a:xfrm>
            <a:off x="747391" y="4286943"/>
            <a:ext cx="3977010" cy="197809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C8039D-7BE7-4F30-816D-10770A63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9D1BA3-896F-4E6B-A9A0-0DBD9335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17</a:t>
            </a:fld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B088A6-55DB-41E0-A08C-25B7DBB6DDF2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41C255-4640-43B0-82D2-8C5177CEAF81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581E7DA-1D1B-476F-90AD-A832B55B0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24" t="1443" r="2851" b="6402"/>
          <a:stretch/>
        </p:blipFill>
        <p:spPr>
          <a:xfrm>
            <a:off x="7245913" y="1570230"/>
            <a:ext cx="3977009" cy="20482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A8FA7A-643E-4098-AAED-6ADA4F86D7AC}"/>
              </a:ext>
            </a:extLst>
          </p:cNvPr>
          <p:cNvSpPr/>
          <p:nvPr/>
        </p:nvSpPr>
        <p:spPr>
          <a:xfrm>
            <a:off x="7026478" y="970230"/>
            <a:ext cx="46422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 Graph between base widths and k values for 34.12m height.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F6EBD0-DB46-4BA7-AE51-EFD369D84481}"/>
              </a:ext>
            </a:extLst>
          </p:cNvPr>
          <p:cNvSpPr/>
          <p:nvPr/>
        </p:nvSpPr>
        <p:spPr>
          <a:xfrm>
            <a:off x="6878311" y="3608029"/>
            <a:ext cx="49386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5.4 Graph between base widths and (weight/length) values for 34.12m Height.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4B0FA2-0EAF-4B81-9C3A-1D0D8ACB45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70"/>
          <a:stretch/>
        </p:blipFill>
        <p:spPr>
          <a:xfrm>
            <a:off x="7245913" y="4204817"/>
            <a:ext cx="3977009" cy="20847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2C1488E-E7D1-461F-9A14-E2156193066D}"/>
              </a:ext>
            </a:extLst>
          </p:cNvPr>
          <p:cNvSpPr/>
          <p:nvPr/>
        </p:nvSpPr>
        <p:spPr>
          <a:xfrm>
            <a:off x="389226" y="592966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GRAPHS.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551A3-5EC6-4F03-B61C-B6C75317FDC9}"/>
              </a:ext>
            </a:extLst>
          </p:cNvPr>
          <p:cNvSpPr/>
          <p:nvPr/>
        </p:nvSpPr>
        <p:spPr>
          <a:xfrm>
            <a:off x="11121096" y="5977534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64A78C05-F60F-45E2-9B31-9D22232E85F3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CFC3491B-F678-4AFF-9502-BE219927B493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2CE941CB-E5F2-44DE-BDBA-04D731D2557A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43943DE5-97A0-4D5E-BB33-D9204D39A96C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463EDA6E-0F8B-446A-B9E7-2BBA7CFC2D47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3372275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6EE1A1-7C17-4971-A050-7BAFE8506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C2764-CEF8-4A98-AAF0-0B43D05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18</a:t>
            </a:fld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A7469C-AD99-4DB1-9817-3F3FE11402CF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C13BA5-A818-4957-B65B-A12BC988E6DA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9AD8B2C-B5B4-4CCA-AD29-D6A7F9074920}"/>
              </a:ext>
            </a:extLst>
          </p:cNvPr>
          <p:cNvSpPr/>
          <p:nvPr/>
        </p:nvSpPr>
        <p:spPr>
          <a:xfrm>
            <a:off x="11081313" y="5987018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97382F-3AF6-4BF4-B4CD-E0133D3A8B6E}"/>
              </a:ext>
            </a:extLst>
          </p:cNvPr>
          <p:cNvSpPr/>
          <p:nvPr/>
        </p:nvSpPr>
        <p:spPr>
          <a:xfrm>
            <a:off x="8493372" y="607483"/>
            <a:ext cx="18930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REASONS.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A5B906-14D4-42FD-8460-9B9E9840D01A}"/>
              </a:ext>
            </a:extLst>
          </p:cNvPr>
          <p:cNvSpPr/>
          <p:nvPr/>
        </p:nvSpPr>
        <p:spPr>
          <a:xfrm>
            <a:off x="6550489" y="985362"/>
            <a:ext cx="50996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Optimum Stability vs. Economy: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bases improve tower stability and reduce deflection under wind loads.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89111D-E23F-4704-8D32-9391EAF1FB85}"/>
              </a:ext>
            </a:extLst>
          </p:cNvPr>
          <p:cNvSpPr/>
          <p:nvPr/>
        </p:nvSpPr>
        <p:spPr>
          <a:xfrm>
            <a:off x="6550489" y="2304475"/>
            <a:ext cx="52738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Height-to-Base Ratio (h/b = 3.79):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ratio ensures adequate stiffness while keeping the tower design economical.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69FDD4-09B0-4E30-A937-BF62F1EABF45}"/>
              </a:ext>
            </a:extLst>
          </p:cNvPr>
          <p:cNvSpPr/>
          <p:nvPr/>
        </p:nvSpPr>
        <p:spPr>
          <a:xfrm>
            <a:off x="6550489" y="3646262"/>
            <a:ext cx="51308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Wind Zone Adaptability: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widths are chosen to suit different wind zones, increasing slightly for higher wind speeds.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BC6B79-0B05-4967-B439-BAFD1EC49F73}"/>
              </a:ext>
            </a:extLst>
          </p:cNvPr>
          <p:cNvSpPr/>
          <p:nvPr/>
        </p:nvSpPr>
        <p:spPr>
          <a:xfrm>
            <a:off x="6550489" y="4908972"/>
            <a:ext cx="52154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provides better resistance to lateral loads without overdesigning for low-wind areas.</a:t>
            </a:r>
            <a:endParaRPr lang="en-IN" dirty="0"/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F78FB43C-082D-4293-9230-D1900F6C2AA4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F45DC4CF-B450-4AB5-850A-65FA4792F54D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2D3779FB-DCCD-4814-B5A2-0186A0BB6AE8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AEB779EA-31F1-45FF-BB76-3BEE03F8A885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FBCBDCE5-0333-47D4-8A2F-5D6D8E4294C2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9A2DFA-FAB8-42A0-A028-F0DFE5F361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4" r="2014" b="9757"/>
          <a:stretch/>
        </p:blipFill>
        <p:spPr>
          <a:xfrm>
            <a:off x="426024" y="1014119"/>
            <a:ext cx="4349175" cy="4249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C7F973-75C6-427A-9F83-20752608D1AF}"/>
              </a:ext>
            </a:extLst>
          </p:cNvPr>
          <p:cNvSpPr txBox="1"/>
          <p:nvPr/>
        </p:nvSpPr>
        <p:spPr>
          <a:xfrm>
            <a:off x="1765229" y="653395"/>
            <a:ext cx="2252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OBSERVATIONS.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8EE2C2-68B7-40D2-8738-B0517D0D8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24" y="5123259"/>
            <a:ext cx="36199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34.12 m tower (k = 0.45).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14.5 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55 m tower (k = 0.345).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141AD-5B98-45A5-9F32-FAD09F936DF4}"/>
              </a:ext>
            </a:extLst>
          </p:cNvPr>
          <p:cNvSpPr/>
          <p:nvPr/>
        </p:nvSpPr>
        <p:spPr>
          <a:xfrm>
            <a:off x="406115" y="5710018"/>
            <a:ext cx="56898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Towers in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wind zones (Zone IV)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slightly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wider bases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same height compared to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 II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821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6E1ED-4B79-4C64-A9FB-BC7C0F7A6F4E}"/>
              </a:ext>
            </a:extLst>
          </p:cNvPr>
          <p:cNvSpPr/>
          <p:nvPr/>
        </p:nvSpPr>
        <p:spPr>
          <a:xfrm>
            <a:off x="186266" y="575475"/>
            <a:ext cx="38929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5.4 - BRACING COMPARASION</a:t>
            </a:r>
            <a:r>
              <a:rPr lang="en-IN" b="1" baseline="30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F4A534-CE06-4162-8CBA-801FD619F171}"/>
              </a:ext>
            </a:extLst>
          </p:cNvPr>
          <p:cNvCxnSpPr>
            <a:cxnSpLocks/>
          </p:cNvCxnSpPr>
          <p:nvPr/>
        </p:nvCxnSpPr>
        <p:spPr>
          <a:xfrm>
            <a:off x="186266" y="6404649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0C4A6D-37F4-4A7B-B50D-DAD457F52FEE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D0DEA-7B49-4135-BEB1-4770762EDA14}"/>
              </a:ext>
            </a:extLst>
          </p:cNvPr>
          <p:cNvSpPr/>
          <p:nvPr/>
        </p:nvSpPr>
        <p:spPr>
          <a:xfrm>
            <a:off x="245533" y="940545"/>
            <a:ext cx="5731934" cy="34861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C20C0E-DAC2-439A-AF24-ACFE62DDEB49}"/>
              </a:ext>
            </a:extLst>
          </p:cNvPr>
          <p:cNvSpPr/>
          <p:nvPr/>
        </p:nvSpPr>
        <p:spPr>
          <a:xfrm>
            <a:off x="6155265" y="944807"/>
            <a:ext cx="5731934" cy="1874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CAE09-AD8B-4FE3-9B89-0A7D6EED86D7}"/>
              </a:ext>
            </a:extLst>
          </p:cNvPr>
          <p:cNvSpPr/>
          <p:nvPr/>
        </p:nvSpPr>
        <p:spPr>
          <a:xfrm>
            <a:off x="245533" y="4598346"/>
            <a:ext cx="5731934" cy="1736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90AB9-3411-4E8D-B8AC-A3D5F50AD7FD}"/>
              </a:ext>
            </a:extLst>
          </p:cNvPr>
          <p:cNvSpPr/>
          <p:nvPr/>
        </p:nvSpPr>
        <p:spPr>
          <a:xfrm>
            <a:off x="6155265" y="2925230"/>
            <a:ext cx="5731934" cy="3409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2ADF3-FD0E-4185-8DEE-65AA262F7A2B}"/>
              </a:ext>
            </a:extLst>
          </p:cNvPr>
          <p:cNvSpPr/>
          <p:nvPr/>
        </p:nvSpPr>
        <p:spPr>
          <a:xfrm>
            <a:off x="2070896" y="974905"/>
            <a:ext cx="2756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Tower Specifications.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B57453-1F80-4407-A33C-32A6D3D1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6" t="18256" r="92153" b="68478"/>
          <a:stretch/>
        </p:blipFill>
        <p:spPr>
          <a:xfrm>
            <a:off x="1709243" y="948929"/>
            <a:ext cx="472595" cy="522883"/>
          </a:xfrm>
          <a:prstGeom prst="rect">
            <a:avLst/>
          </a:prstGeom>
        </p:spPr>
      </p:pic>
      <p:pic>
        <p:nvPicPr>
          <p:cNvPr id="20" name="Graphic 19" descr="Bar chart RTL">
            <a:extLst>
              <a:ext uri="{FF2B5EF4-FFF2-40B4-BE49-F238E27FC236}">
                <a16:creationId xmlns:a16="http://schemas.microsoft.com/office/drawing/2014/main" id="{03407DE6-362A-468A-A1FC-A1B71E12F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3696" y="4582351"/>
            <a:ext cx="518524" cy="51852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02105E-FA14-4E21-8CBD-9767730F2E29}"/>
              </a:ext>
            </a:extLst>
          </p:cNvPr>
          <p:cNvSpPr/>
          <p:nvPr/>
        </p:nvSpPr>
        <p:spPr>
          <a:xfrm>
            <a:off x="2362220" y="4612971"/>
            <a:ext cx="2204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Tower Analyses.</a:t>
            </a:r>
          </a:p>
        </p:txBody>
      </p:sp>
      <p:pic>
        <p:nvPicPr>
          <p:cNvPr id="23" name="Graphic 22" descr="Computer">
            <a:extLst>
              <a:ext uri="{FF2B5EF4-FFF2-40B4-BE49-F238E27FC236}">
                <a16:creationId xmlns:a16="http://schemas.microsoft.com/office/drawing/2014/main" id="{3A7D1FFB-5098-407B-A64D-6F500CF35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5020" y="5497794"/>
            <a:ext cx="457200" cy="4572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0FD9476-C71B-40BE-9C55-DDBD7D1E5059}"/>
              </a:ext>
            </a:extLst>
          </p:cNvPr>
          <p:cNvSpPr/>
          <p:nvPr/>
        </p:nvSpPr>
        <p:spPr>
          <a:xfrm>
            <a:off x="2495810" y="5476999"/>
            <a:ext cx="18327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 ware Used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12041C-1818-478F-9C80-A3B98173E81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56867" y="1036791"/>
            <a:ext cx="551034" cy="60772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5E9D14F-4FFF-4E99-AC16-7AC0D0CB8A48}"/>
              </a:ext>
            </a:extLst>
          </p:cNvPr>
          <p:cNvSpPr/>
          <p:nvPr/>
        </p:nvSpPr>
        <p:spPr>
          <a:xfrm>
            <a:off x="7741478" y="940545"/>
            <a:ext cx="2488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Loads Considered.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CFAFCFF8-1504-4766-BF26-DB4DEE90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3" y="1398195"/>
            <a:ext cx="4858618" cy="128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 Load, Wind Load, Longitudinal Load, Vertical Load, Seismic Load, Temperature Load and Dynamic Load.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92E9A98-E3E9-446E-BE88-8BB2C066D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80590"/>
              </p:ext>
            </p:extLst>
          </p:nvPr>
        </p:nvGraphicFramePr>
        <p:xfrm>
          <a:off x="428367" y="1266695"/>
          <a:ext cx="5461000" cy="31054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74799">
                  <a:extLst>
                    <a:ext uri="{9D8B030D-6E8A-4147-A177-3AD203B41FA5}">
                      <a16:colId xmlns:a16="http://schemas.microsoft.com/office/drawing/2014/main" val="69222950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767777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              -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Self-supporting lattice tower.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4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       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m – 55 m (up to 75 m for 500 kV).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580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range  -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 m – 55 m (up to 75 m for 500 kV).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83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Width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m – 10 m (varied for optimization).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95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         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06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Configuration-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lvl="1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K, X, Diamond (D), Single Diagonal, Cross-Diagonal, KD, Y, YD, XBX, Pratt, KX.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166284"/>
                  </a:ext>
                </a:extLst>
              </a:tr>
            </a:tbl>
          </a:graphicData>
        </a:graphic>
      </p:graphicFrame>
      <p:sp>
        <p:nvSpPr>
          <p:cNvPr id="31" name="Rectangle 2">
            <a:extLst>
              <a:ext uri="{FF2B5EF4-FFF2-40B4-BE49-F238E27FC236}">
                <a16:creationId xmlns:a16="http://schemas.microsoft.com/office/drawing/2014/main" id="{67716FE0-3513-416F-9D7B-8F747B98F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06" y="5134301"/>
            <a:ext cx="51825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Linear  and non linear Static Analysis.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850F789-0540-4D24-8B06-F634DEE1A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873" y="5795423"/>
            <a:ext cx="4391715" cy="45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STAAD Pro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3D modeling and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F786A7-8677-4F3D-ACE6-91149994586C}"/>
              </a:ext>
            </a:extLst>
          </p:cNvPr>
          <p:cNvSpPr/>
          <p:nvPr/>
        </p:nvSpPr>
        <p:spPr>
          <a:xfrm>
            <a:off x="8049808" y="2939337"/>
            <a:ext cx="2373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Bracing considered.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82672-41F9-4797-B0F3-CC5F1D09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A49B75-3177-41D9-B8B5-8A07BD5A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19</a:t>
            </a:fld>
            <a:endParaRPr lang="en-IN" dirty="0"/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7A22532F-4887-48C3-B90E-34E9044B8A04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33DF969B-C072-49BA-A023-6AF9C252FCC4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A2BBB08D-6C9E-419D-842B-0C4D1996A3BC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6D801550-3AF8-4727-BE36-E6010F2F7E20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773489EF-E9D6-4162-BB4E-44E1E31E6273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8F3E02-FB60-4571-A552-D198F11479C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0020"/>
          <a:stretch/>
        </p:blipFill>
        <p:spPr>
          <a:xfrm>
            <a:off x="6331402" y="3378135"/>
            <a:ext cx="5305725" cy="255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04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D20E39-BFE9-4958-B1A1-780FC4D5BFCB}"/>
              </a:ext>
            </a:extLst>
          </p:cNvPr>
          <p:cNvCxnSpPr>
            <a:cxnSpLocks/>
          </p:cNvCxnSpPr>
          <p:nvPr/>
        </p:nvCxnSpPr>
        <p:spPr>
          <a:xfrm>
            <a:off x="186265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400621-9352-4A78-AD7C-7B955D149527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CDC268C-6612-406B-968C-510104E3BC90}"/>
              </a:ext>
            </a:extLst>
          </p:cNvPr>
          <p:cNvSpPr/>
          <p:nvPr/>
        </p:nvSpPr>
        <p:spPr>
          <a:xfrm>
            <a:off x="417260" y="565600"/>
            <a:ext cx="1383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GRAPHS.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1F701E-DB37-4FE7-A767-E135C27C4F41}"/>
              </a:ext>
            </a:extLst>
          </p:cNvPr>
          <p:cNvSpPr txBox="1"/>
          <p:nvPr/>
        </p:nvSpPr>
        <p:spPr>
          <a:xfrm>
            <a:off x="2366759" y="5690347"/>
            <a:ext cx="1326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graphs.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DCC716-FCC8-479A-80BA-CF4A76890546}"/>
              </a:ext>
            </a:extLst>
          </p:cNvPr>
          <p:cNvSpPr/>
          <p:nvPr/>
        </p:nvSpPr>
        <p:spPr>
          <a:xfrm>
            <a:off x="11081313" y="5987018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C12751-B076-4837-8C90-4430F7D8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C9C16-4500-43E8-B7AB-FAD67E591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20</a:t>
            </a:fld>
            <a:endParaRPr lang="en-IN" dirty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DF8E7C80-2DBC-478E-B9C0-1575AF71CF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4192110"/>
              </p:ext>
            </p:extLst>
          </p:nvPr>
        </p:nvGraphicFramePr>
        <p:xfrm>
          <a:off x="512221" y="1438981"/>
          <a:ext cx="4404110" cy="38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9B526EA0-B84E-4179-A8D3-EB1D35857F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0045237"/>
              </p:ext>
            </p:extLst>
          </p:nvPr>
        </p:nvGraphicFramePr>
        <p:xfrm>
          <a:off x="6393920" y="620181"/>
          <a:ext cx="4162425" cy="2808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79F99259-0DD0-4398-BADF-9DC459EC8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8250669"/>
              </p:ext>
            </p:extLst>
          </p:nvPr>
        </p:nvGraphicFramePr>
        <p:xfrm>
          <a:off x="6620676" y="3618466"/>
          <a:ext cx="4231745" cy="2377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F5860239-4223-4FA3-8456-57A0AC018C89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A306BEF5-4EC0-4891-A701-A1EF2E009CBE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08593DC4-4B0C-45F0-826F-1549301AD804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63ABB404-9673-47D5-A77D-A7E80D31BCB5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62AB8BF2-1403-490C-A4E2-BF17D79ADB44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1820066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5A39E3-E265-415D-8BCF-CD82399D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62F3D3-79C5-4FA8-ACE7-27DD4D56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21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EB9D8C-3C6D-4CA0-8EB9-E5B30F91CBF6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B2521F-3F7D-461D-BE67-453F6DC2F4A2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904503B-EDC8-4951-A6C1-62E3197C263E}"/>
              </a:ext>
            </a:extLst>
          </p:cNvPr>
          <p:cNvSpPr/>
          <p:nvPr/>
        </p:nvSpPr>
        <p:spPr>
          <a:xfrm>
            <a:off x="575733" y="779677"/>
            <a:ext cx="7577667" cy="2120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Bracing configuration governs both economy and stiffness.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X-bracing generally yields minimum weight and uniform force distribution.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K-bracing offers higher stiffness but adds steel.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Diamond (D) and Cross-diagonal are good compromises.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KD/YD suitable for telecom towers (tall, slender).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5E09F3-9337-4014-9166-DFF61EF23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745072"/>
              </p:ext>
            </p:extLst>
          </p:nvPr>
        </p:nvGraphicFramePr>
        <p:xfrm>
          <a:off x="770466" y="3211620"/>
          <a:ext cx="10828868" cy="301752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304710">
                  <a:extLst>
                    <a:ext uri="{9D8B030D-6E8A-4147-A177-3AD203B41FA5}">
                      <a16:colId xmlns:a16="http://schemas.microsoft.com/office/drawing/2014/main" val="4211705985"/>
                    </a:ext>
                  </a:extLst>
                </a:gridCol>
                <a:gridCol w="3911708">
                  <a:extLst>
                    <a:ext uri="{9D8B030D-6E8A-4147-A177-3AD203B41FA5}">
                      <a16:colId xmlns:a16="http://schemas.microsoft.com/office/drawing/2014/main" val="2165212067"/>
                    </a:ext>
                  </a:extLst>
                </a:gridCol>
                <a:gridCol w="4612450">
                  <a:extLst>
                    <a:ext uri="{9D8B030D-6E8A-4147-A177-3AD203B41FA5}">
                      <a16:colId xmlns:a16="http://schemas.microsoft.com/office/drawing/2014/main" val="2163183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+mj-lt"/>
                          <a:cs typeface="Times New Roman" panose="02020603050405020304" pitchFamily="18" charset="0"/>
                        </a:rPr>
                        <a:t>Bracing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latin typeface="+mj-lt"/>
                          <a:cs typeface="Times New Roman" panose="02020603050405020304" pitchFamily="18" charset="0"/>
                        </a:rPr>
                        <a:t>Structural Behaviour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+mj-lt"/>
                          <a:cs typeface="Times New Roman" panose="02020603050405020304" pitchFamily="18" charset="0"/>
                        </a:rPr>
                        <a:t>Reason for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672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X-Bracing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tension–compression path; symmetrical load transfer.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deflection &amp; weight → most economical.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48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 / Diamond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Secondary diagonal reduces unbalanced forces.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Stable, uniform stress distribution.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397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K-Bracing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Redundant members, higher stiffness.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deflection but heavier; useful in high-wind zones.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426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 / YD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K &amp; diagonal system.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economy for tall slender telecom towers.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848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XBX / Cross-Diagonal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load paths.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between stiffness &amp; weight.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3295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8F8144-7844-40A5-ACD0-1E634DCA2C90}"/>
              </a:ext>
            </a:extLst>
          </p:cNvPr>
          <p:cNvSpPr txBox="1"/>
          <p:nvPr/>
        </p:nvSpPr>
        <p:spPr>
          <a:xfrm>
            <a:off x="4969985" y="562607"/>
            <a:ext cx="2252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OBSERVATIONS.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B24539-B406-43FA-B53D-83EFBF1C3ABB}"/>
              </a:ext>
            </a:extLst>
          </p:cNvPr>
          <p:cNvSpPr txBox="1"/>
          <p:nvPr/>
        </p:nvSpPr>
        <p:spPr>
          <a:xfrm>
            <a:off x="5403276" y="277868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REASONS.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52B023EA-3D72-40EC-A219-534B78AF95CD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E9BF406D-4E31-4D69-9C18-ADD66749CFAF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B8C9C1A0-602B-46BF-BAE6-1DE45D5A66EC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96004C4E-E30D-4EEA-A5D0-09417FD17BA0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948569AB-9A95-4647-87E2-4567D2E7F493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1790432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56E1ED-4B79-4C64-A9FB-BC7C0F7A6F4E}"/>
              </a:ext>
            </a:extLst>
          </p:cNvPr>
          <p:cNvSpPr/>
          <p:nvPr/>
        </p:nvSpPr>
        <p:spPr>
          <a:xfrm>
            <a:off x="186266" y="575475"/>
            <a:ext cx="3469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5.5 - CODE COMPARASION</a:t>
            </a:r>
            <a:r>
              <a:rPr lang="en-IN" b="1" baseline="30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F4A534-CE06-4162-8CBA-801FD619F171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0C4A6D-37F4-4A7B-B50D-DAD457F52FEE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75D0DEA-7B49-4135-BEB1-4770762EDA14}"/>
              </a:ext>
            </a:extLst>
          </p:cNvPr>
          <p:cNvSpPr/>
          <p:nvPr/>
        </p:nvSpPr>
        <p:spPr>
          <a:xfrm>
            <a:off x="245533" y="940546"/>
            <a:ext cx="5731934" cy="3093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C20C0E-DAC2-439A-AF24-ACFE62DDEB49}"/>
              </a:ext>
            </a:extLst>
          </p:cNvPr>
          <p:cNvSpPr/>
          <p:nvPr/>
        </p:nvSpPr>
        <p:spPr>
          <a:xfrm>
            <a:off x="6155265" y="944807"/>
            <a:ext cx="5731934" cy="3093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FCAE09-AD8B-4FE3-9B89-0A7D6EED86D7}"/>
              </a:ext>
            </a:extLst>
          </p:cNvPr>
          <p:cNvSpPr/>
          <p:nvPr/>
        </p:nvSpPr>
        <p:spPr>
          <a:xfrm>
            <a:off x="245533" y="4165600"/>
            <a:ext cx="5731934" cy="2169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E90AB9-3411-4E8D-B8AC-A3D5F50AD7FD}"/>
              </a:ext>
            </a:extLst>
          </p:cNvPr>
          <p:cNvSpPr/>
          <p:nvPr/>
        </p:nvSpPr>
        <p:spPr>
          <a:xfrm>
            <a:off x="6155265" y="4165600"/>
            <a:ext cx="5731934" cy="2169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32ADF3-FD0E-4185-8DEE-65AA262F7A2B}"/>
              </a:ext>
            </a:extLst>
          </p:cNvPr>
          <p:cNvSpPr/>
          <p:nvPr/>
        </p:nvSpPr>
        <p:spPr>
          <a:xfrm>
            <a:off x="2123339" y="860937"/>
            <a:ext cx="27567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Tower Specifications.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B57453-1F80-4407-A33C-32A6D3D1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0" t="18256" r="92818" b="69913"/>
          <a:stretch/>
        </p:blipFill>
        <p:spPr>
          <a:xfrm>
            <a:off x="1748903" y="959604"/>
            <a:ext cx="497739" cy="482566"/>
          </a:xfrm>
          <a:prstGeom prst="rect">
            <a:avLst/>
          </a:prstGeom>
        </p:spPr>
      </p:pic>
      <p:pic>
        <p:nvPicPr>
          <p:cNvPr id="20" name="Graphic 19" descr="Bar chart RTL">
            <a:extLst>
              <a:ext uri="{FF2B5EF4-FFF2-40B4-BE49-F238E27FC236}">
                <a16:creationId xmlns:a16="http://schemas.microsoft.com/office/drawing/2014/main" id="{03407DE6-362A-468A-A1FC-A1B71E12F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8477" y="4167857"/>
            <a:ext cx="518524" cy="51852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02105E-FA14-4E21-8CBD-9767730F2E29}"/>
              </a:ext>
            </a:extLst>
          </p:cNvPr>
          <p:cNvSpPr/>
          <p:nvPr/>
        </p:nvSpPr>
        <p:spPr>
          <a:xfrm>
            <a:off x="2389401" y="4159246"/>
            <a:ext cx="21398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Tower Analyses.</a:t>
            </a:r>
          </a:p>
        </p:txBody>
      </p:sp>
      <p:pic>
        <p:nvPicPr>
          <p:cNvPr id="23" name="Graphic 22" descr="Computer">
            <a:extLst>
              <a:ext uri="{FF2B5EF4-FFF2-40B4-BE49-F238E27FC236}">
                <a16:creationId xmlns:a16="http://schemas.microsoft.com/office/drawing/2014/main" id="{3A7D1FFB-5098-407B-A64D-6F500CF35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9957" y="4145558"/>
            <a:ext cx="457200" cy="4572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0FD9476-C71B-40BE-9C55-DDBD7D1E5059}"/>
              </a:ext>
            </a:extLst>
          </p:cNvPr>
          <p:cNvSpPr/>
          <p:nvPr/>
        </p:nvSpPr>
        <p:spPr>
          <a:xfrm>
            <a:off x="8026056" y="4144414"/>
            <a:ext cx="20251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 ware Used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F12041C-1818-478F-9C80-A3B98173E81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04239" y="944807"/>
            <a:ext cx="551034" cy="60772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5E9D14F-4FFF-4E99-AC16-7AC0D0CB8A48}"/>
              </a:ext>
            </a:extLst>
          </p:cNvPr>
          <p:cNvSpPr/>
          <p:nvPr/>
        </p:nvSpPr>
        <p:spPr>
          <a:xfrm>
            <a:off x="7826483" y="896317"/>
            <a:ext cx="24242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Loads Considered.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CFAFCFF8-1504-4766-BF26-DB4DEE90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677" y="1451473"/>
            <a:ext cx="485861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Self-weight (Dead load)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Conductors &amp; Hardware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Wind load on tower and conductors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Ice/Snow load (if applicable)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Torsional &amp; Longitudinal wind effects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Earthquake/Dynamic 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Cyclonic (gust) load factors (IS 875 Part 3: 2015)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Load combinations for extreme conditions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92E9A98-E3E9-446E-BE88-8BB2C066D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54042"/>
              </p:ext>
            </p:extLst>
          </p:nvPr>
        </p:nvGraphicFramePr>
        <p:xfrm>
          <a:off x="795868" y="1334475"/>
          <a:ext cx="5461000" cy="2468880"/>
        </p:xfrm>
        <a:graphic>
          <a:graphicData uri="http://schemas.openxmlformats.org/drawingml/2006/table">
            <a:tbl>
              <a:tblPr/>
              <a:tblGrid>
                <a:gridCol w="1574799">
                  <a:extLst>
                    <a:ext uri="{9D8B030D-6E8A-4147-A177-3AD203B41FA5}">
                      <a16:colId xmlns:a16="http://schemas.microsoft.com/office/drawing/2014/main" val="69222950"/>
                    </a:ext>
                  </a:extLst>
                </a:gridCol>
                <a:gridCol w="3886201">
                  <a:extLst>
                    <a:ext uri="{9D8B030D-6E8A-4147-A177-3AD203B41FA5}">
                      <a16:colId xmlns:a16="http://schemas.microsoft.com/office/drawing/2014/main" val="767777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-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 kV Double-Circuit Lattice Tower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9940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4580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Span -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 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883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Width-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5.95 m (Square Base)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495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Equal-Angle Steel Sections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(Mild and High-Tensile Steel)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306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X-Bracing and K-Bracing Patterns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2166284"/>
                  </a:ext>
                </a:extLst>
              </a:tr>
            </a:tbl>
          </a:graphicData>
        </a:graphic>
      </p:graphicFrame>
      <p:sp>
        <p:nvSpPr>
          <p:cNvPr id="31" name="Rectangle 2">
            <a:extLst>
              <a:ext uri="{FF2B5EF4-FFF2-40B4-BE49-F238E27FC236}">
                <a16:creationId xmlns:a16="http://schemas.microsoft.com/office/drawing/2014/main" id="{67716FE0-3513-416F-9D7B-8F747B98F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71" y="4565710"/>
            <a:ext cx="5304726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Linear Static Analysis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base comparison under   normal loads.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Dynamic Analysis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Time-dependent and seismic response.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850F789-0540-4D24-8B06-F634DEE1A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2" y="4718804"/>
            <a:ext cx="4990469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STAAD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3D modeling and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ANSYS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validation and parametric optimization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593887-5909-4B48-BB07-29D563C1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B7CAC4-1AB1-4EAB-8801-15E1F2B3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22</a:t>
            </a:fld>
            <a:endParaRPr lang="en-IN" dirty="0"/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01650A8D-0F07-460C-893A-D7AE34E047A6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2F0E808-A491-47D3-B29B-5AB3E1C40ABD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E2998C01-5894-4CAC-8486-F778C26B1C22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4C25E382-E9D6-4CEC-B6D8-9F78F5754718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CC4AE2F8-3BE6-4ED7-855A-15F592453189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4173434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D20E39-BFE9-4958-B1A1-780FC4D5BFCB}"/>
              </a:ext>
            </a:extLst>
          </p:cNvPr>
          <p:cNvCxnSpPr>
            <a:cxnSpLocks/>
          </p:cNvCxnSpPr>
          <p:nvPr/>
        </p:nvCxnSpPr>
        <p:spPr>
          <a:xfrm>
            <a:off x="186266" y="6337299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400621-9352-4A78-AD7C-7B955D149527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16DEA1-D892-4507-946A-4C3221EABE02}"/>
              </a:ext>
            </a:extLst>
          </p:cNvPr>
          <p:cNvSpPr/>
          <p:nvPr/>
        </p:nvSpPr>
        <p:spPr>
          <a:xfrm>
            <a:off x="389226" y="603410"/>
            <a:ext cx="1511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5 - GRAPHS.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AA9C36-6950-47FD-9F0C-BD98201401FD}"/>
              </a:ext>
            </a:extLst>
          </p:cNvPr>
          <p:cNvSpPr/>
          <p:nvPr/>
        </p:nvSpPr>
        <p:spPr>
          <a:xfrm>
            <a:off x="11081313" y="5987018"/>
            <a:ext cx="729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61EFFA-B608-420F-AF8B-BA6D0CE26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A99BFB-0EAF-4059-8CDA-FFB47B82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23</a:t>
            </a:fld>
            <a:endParaRPr lang="en-IN" dirty="0"/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3E02B8AF-2925-4C97-802E-76FB613AA235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1451A098-B0E0-402C-B546-326ACBA09E5C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CFC740E3-AF76-4F15-B896-A4BCDA7C17FE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717CC00F-070E-4659-B358-DD85B596740E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74408106-532F-400F-81D7-2C3337250ED2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1BAE1248-51A1-4107-A0A3-97785F5016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8566613"/>
              </p:ext>
            </p:extLst>
          </p:nvPr>
        </p:nvGraphicFramePr>
        <p:xfrm>
          <a:off x="533400" y="1608674"/>
          <a:ext cx="4715933" cy="308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E2619901-04CF-4829-B58A-2226004C9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5964230"/>
              </p:ext>
            </p:extLst>
          </p:nvPr>
        </p:nvGraphicFramePr>
        <p:xfrm>
          <a:off x="6252633" y="1608675"/>
          <a:ext cx="4715933" cy="3086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98F8163-F31B-4B29-809F-52D683EFBCA3}"/>
              </a:ext>
            </a:extLst>
          </p:cNvPr>
          <p:cNvSpPr txBox="1"/>
          <p:nvPr/>
        </p:nvSpPr>
        <p:spPr>
          <a:xfrm>
            <a:off x="2785533" y="13292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600020-694B-4C56-AB74-BC1EF86765B0}"/>
              </a:ext>
            </a:extLst>
          </p:cNvPr>
          <p:cNvSpPr txBox="1"/>
          <p:nvPr/>
        </p:nvSpPr>
        <p:spPr>
          <a:xfrm>
            <a:off x="8803097" y="13292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9869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5A39E3-E265-415D-8BCF-CD82399D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62F3D3-79C5-4FA8-ACE7-27DD4D56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24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EB9D8C-3C6D-4CA0-8EB9-E5B30F91CBF6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B2521F-3F7D-461D-BE67-453F6DC2F4A2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9700AD8-6526-4B25-B2A0-AB82FF5B37F2}"/>
              </a:ext>
            </a:extLst>
          </p:cNvPr>
          <p:cNvSpPr/>
          <p:nvPr/>
        </p:nvSpPr>
        <p:spPr>
          <a:xfrm>
            <a:off x="573740" y="912662"/>
            <a:ext cx="11059459" cy="2120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 load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critical factor in tower design, especially in cyclone-prone regions.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802 (2015)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 revision to include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k₄ factor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cyclonic safety (as adopted in IS 875 (2015)).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802 (2015)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adequate for normal zones but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unsafe in coastal Wind Zone 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modification.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ASCE 10-97/10-15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 EN 1993-3-1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more accurate and reliable load estimations for extreme winds and slender members.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24A871-8740-4885-9B35-ECAA8C4B2880}"/>
              </a:ext>
            </a:extLst>
          </p:cNvPr>
          <p:cNvSpPr/>
          <p:nvPr/>
        </p:nvSpPr>
        <p:spPr>
          <a:xfrm>
            <a:off x="573740" y="3889589"/>
            <a:ext cx="11059460" cy="2258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Code: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875 (Part 3): 2015 + ASCE 10-15 combination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IS 802 revised with k₄ factor = 1.3).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Reasons: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for cyclonic gust effects via importance factor (k₄).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Harmonized with international reliability-based design methods.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safe, economical, and performance-based results in high wind zones.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current understanding of fluctuating and directional wind loading on lattice towers.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E702EA-B3E3-450E-96DA-05024DE57832}"/>
              </a:ext>
            </a:extLst>
          </p:cNvPr>
          <p:cNvSpPr/>
          <p:nvPr/>
        </p:nvSpPr>
        <p:spPr>
          <a:xfrm>
            <a:off x="245533" y="578938"/>
            <a:ext cx="22712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6 - OBSERVATIONS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71BB0-16E0-4334-B302-BD59F2A21F76}"/>
              </a:ext>
            </a:extLst>
          </p:cNvPr>
          <p:cNvSpPr/>
          <p:nvPr/>
        </p:nvSpPr>
        <p:spPr>
          <a:xfrm>
            <a:off x="276439" y="3312063"/>
            <a:ext cx="4480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7 - Recommended / Best Code and Reasons.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3B19059F-4295-41F6-BB77-BCA6556E4182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B36292BC-6D3B-4EE4-80B8-6E881C5E6251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C66EF330-2F88-43A6-B466-7C8D487B4F73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FDD82D8E-D55A-4602-85C7-E571F3A0028D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28EB3555-183C-4D1A-8259-5A2701F0814F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1937221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D20E39-BFE9-4958-B1A1-780FC4D5BFCB}"/>
              </a:ext>
            </a:extLst>
          </p:cNvPr>
          <p:cNvCxnSpPr>
            <a:cxnSpLocks/>
          </p:cNvCxnSpPr>
          <p:nvPr/>
        </p:nvCxnSpPr>
        <p:spPr>
          <a:xfrm>
            <a:off x="204944" y="6390393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400621-9352-4A78-AD7C-7B955D149527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D0BC1D-DF6A-4A40-9D91-23A7ECA70201}"/>
              </a:ext>
            </a:extLst>
          </p:cNvPr>
          <p:cNvSpPr txBox="1"/>
          <p:nvPr/>
        </p:nvSpPr>
        <p:spPr>
          <a:xfrm>
            <a:off x="338667" y="522816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Efficient bracings.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DEB3B-3E74-4AC0-AF75-346435C4573F}"/>
              </a:ext>
            </a:extLst>
          </p:cNvPr>
          <p:cNvSpPr txBox="1"/>
          <p:nvPr/>
        </p:nvSpPr>
        <p:spPr>
          <a:xfrm>
            <a:off x="338667" y="2329004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Efficient section.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99DFF-F8CC-4B17-A7A6-BF5A0FF99A90}"/>
              </a:ext>
            </a:extLst>
          </p:cNvPr>
          <p:cNvSpPr txBox="1"/>
          <p:nvPr/>
        </p:nvSpPr>
        <p:spPr>
          <a:xfrm>
            <a:off x="367553" y="4413577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Efficient configuration</a:t>
            </a:r>
            <a:r>
              <a:rPr lang="en-IN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C6D5F2-72D6-4A9C-9196-FE6C8254A26E}"/>
              </a:ext>
            </a:extLst>
          </p:cNvPr>
          <p:cNvSpPr/>
          <p:nvPr/>
        </p:nvSpPr>
        <p:spPr>
          <a:xfrm>
            <a:off x="617979" y="705426"/>
            <a:ext cx="8027775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X-bracing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the most efficient balance of stiffness, strength, and economy by uniformly distributing loads and minimizing deflection.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K, Diamond, and KD patterns, it ensures greater stability with lower steel consumption, making it the most suitable choice for transmission tower design.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FD0444-E096-4AE6-9A2E-670B3CA6BC6A}"/>
              </a:ext>
            </a:extLst>
          </p:cNvPr>
          <p:cNvSpPr/>
          <p:nvPr/>
        </p:nvSpPr>
        <p:spPr>
          <a:xfrm>
            <a:off x="692892" y="2643609"/>
            <a:ext cx="8188986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hollow sections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more efficient than traditional angle sections, offering higher stiffness and lower deflection under wind and seismic loads.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slightly complex fabrication, they provide superior strength-to-weight performance and improved overall structural efficiency.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6389A0-7CEB-4717-9924-E19619BEC38F}"/>
              </a:ext>
            </a:extLst>
          </p:cNvPr>
          <p:cNvSpPr/>
          <p:nvPr/>
        </p:nvSpPr>
        <p:spPr>
          <a:xfrm>
            <a:off x="692892" y="4685824"/>
            <a:ext cx="7849975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configuration (HCT)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most economical and practical design, offering stable performance with lower wind loads.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slightly heavier, it allows the use of mild steel instead of high-tensile steel, resulting in significant cost savings.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2C25F52-8C2A-4994-8544-018619CBB6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06"/>
          <a:stretch/>
        </p:blipFill>
        <p:spPr>
          <a:xfrm>
            <a:off x="9162677" y="716401"/>
            <a:ext cx="2743200" cy="19335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DCFA02-ADF7-456F-ADE7-60BBA964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300" y="4491849"/>
            <a:ext cx="2791160" cy="18841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B18504-50B4-46E5-8E54-451FF97E8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300" y="2664352"/>
            <a:ext cx="2512488" cy="166941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065ADC-24B8-4CFC-9030-18877D27B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621071-5356-4492-A392-97C5DB1E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25</a:t>
            </a:fld>
            <a:endParaRPr lang="en-IN" dirty="0"/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C6924981-A896-4734-856F-922DB5B5972A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4C23987A-E266-436A-90BF-C38F27944895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931B5497-DD57-408F-A41C-6409F5C4DE9E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7597A949-A1F7-4DAB-9FB5-DF8C7FEED998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11C9A9EB-5E61-4397-BEC4-87AF6354EA14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2069799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D20E39-BFE9-4958-B1A1-780FC4D5BFCB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400621-9352-4A78-AD7C-7B955D149527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701CFB-1F81-4303-8C24-3BBC5A7F73AD}"/>
              </a:ext>
            </a:extLst>
          </p:cNvPr>
          <p:cNvSpPr txBox="1"/>
          <p:nvPr/>
        </p:nvSpPr>
        <p:spPr>
          <a:xfrm>
            <a:off x="372533" y="824662"/>
            <a:ext cx="286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Efficient code for design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320C06-6F19-4CD9-B75F-50F342BD019C}"/>
              </a:ext>
            </a:extLst>
          </p:cNvPr>
          <p:cNvSpPr txBox="1"/>
          <p:nvPr/>
        </p:nvSpPr>
        <p:spPr>
          <a:xfrm>
            <a:off x="372533" y="3429000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Efficient base width.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D58F8C-C55D-4E2C-8BFF-8D6FC33176B3}"/>
              </a:ext>
            </a:extLst>
          </p:cNvPr>
          <p:cNvSpPr/>
          <p:nvPr/>
        </p:nvSpPr>
        <p:spPr>
          <a:xfrm>
            <a:off x="491065" y="3912676"/>
            <a:ext cx="7780868" cy="2125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optimum base width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tower height and wind zone, balancing both stability and economy.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height-to-width ratio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maximizes structural efficiency while minimizing excess steel and cost about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34.12 m towers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14.5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 m towers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 the best performance.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D4884D-7A2B-4FD5-B01C-1F33FBF39D7B}"/>
              </a:ext>
            </a:extLst>
          </p:cNvPr>
          <p:cNvSpPr/>
          <p:nvPr/>
        </p:nvSpPr>
        <p:spPr>
          <a:xfrm>
            <a:off x="482599" y="1346588"/>
            <a:ext cx="8039702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875 (Part 3): 2015 + ASCE 10-15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ensures safe and economical tower design by incorporating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k₄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factor for cyclonic and directional wind effects.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revised IS 802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k₄ = 1.3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essential for achieving reliable performance in coastal and high-wind regions.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B11AD1-611F-403A-A764-D07F1089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2024" y="1020852"/>
            <a:ext cx="2980265" cy="19288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33EE5C-7A70-451F-A613-3B8A61084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172" y="4049671"/>
            <a:ext cx="2907971" cy="1904834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F5680-71C1-4FCE-A069-A151F513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Parametric Study on Structural Efficiency and Economy of Transmission Towers.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625066-F87D-4709-8443-230E519F2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26</a:t>
            </a:fld>
            <a:endParaRPr lang="en-IN" dirty="0"/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9D101BDB-1FFC-4B78-AC9D-2566358F384F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8CBE5D7C-FC43-4446-831C-E704C4CA76A8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44E3516A-4907-43BA-ACE8-C9528AF57726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BAC2319F-64EB-452C-B356-EC9FF967990E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1F421424-B82A-4C54-8D19-81BB17CFA2B9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2440698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2984789-B14F-438F-A4FD-FFD2F2CAF0DD}"/>
              </a:ext>
            </a:extLst>
          </p:cNvPr>
          <p:cNvSpPr/>
          <p:nvPr/>
        </p:nvSpPr>
        <p:spPr>
          <a:xfrm>
            <a:off x="833965" y="946078"/>
            <a:ext cx="10524067" cy="4613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[1] </a:t>
            </a:r>
            <a:r>
              <a:rPr lang="en-IN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Comparative Study of Four-Legged Lattice Transmission Tower Having Angle and Hollow Sections,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International Journal of Advance Engineering and Research Development (IJAERD), vol. 4, 2017.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[2] Analysis and Design of Vertical and Horizontal Configurations of Cross-Arms in a Transmission Line Tower, IJERT, vol. 4, 2015.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[3] M. N.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Shyamenahalli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and C. D. M. Determination of Economic Base Width of Transmission Tower for Different Wind Zones, </a:t>
            </a:r>
            <a:r>
              <a:rPr lang="en-IN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Journal of Research in Engineering and Science (IJRES),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vol. 9, 2021.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[4]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Abdulaqder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M.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Tah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Kamiran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M.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Asilevani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&amp; Mustafa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Özaçka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(2017). </a:t>
            </a:r>
            <a:r>
              <a:rPr lang="en-IN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Comparison of Various Bracing System for Self-Supporting Steel Lattice Structure Towers. American Journal of Civil Engineering.</a:t>
            </a:r>
            <a:endParaRPr lang="en-IN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[5] Harsha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Jatwa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Vivek Tiwari, &amp;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Sumit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Pahwa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(2017). </a:t>
            </a:r>
            <a:r>
              <a:rPr lang="en-IN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Comparative Study of Indian and ASCE Codes Provision for Design of Transmission Tower. International Journal of Innovations in Engineering and Technology (IJIET),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vol. 9.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8DFAE-CC64-418B-B282-03697DCF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on Structural Efficiency and Economy of Transmission Towers.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BC690-3F59-4273-B777-76B26A58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AEE1-5D68-4E52-A589-D0AC3EDD6622}" type="slidenum">
              <a:rPr lang="en-IN" smtClean="0"/>
              <a:t>27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0A9DDA-3172-43A2-BF91-DCF5FE0CD8DD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7583D1-3CC7-4F22-ACCC-0CB93EB9638F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40CC633C-39ED-4BD6-82A1-B53DD5BC9A60}"/>
              </a:ext>
            </a:extLst>
          </p:cNvPr>
          <p:cNvSpPr/>
          <p:nvPr/>
        </p:nvSpPr>
        <p:spPr>
          <a:xfrm>
            <a:off x="245533" y="104380"/>
            <a:ext cx="2209800" cy="369332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Intro.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AA197C2C-2D50-4C28-9304-715C7C7A1E20}"/>
              </a:ext>
            </a:extLst>
          </p:cNvPr>
          <p:cNvSpPr/>
          <p:nvPr/>
        </p:nvSpPr>
        <p:spPr>
          <a:xfrm>
            <a:off x="2495810" y="94821"/>
            <a:ext cx="2209800" cy="38223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Objective.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4AB58530-0828-46D7-8FD7-F26126F0A11C}"/>
              </a:ext>
            </a:extLst>
          </p:cNvPr>
          <p:cNvSpPr/>
          <p:nvPr/>
        </p:nvSpPr>
        <p:spPr>
          <a:xfrm>
            <a:off x="7344358" y="85248"/>
            <a:ext cx="2209800" cy="38706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Conclusion.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ACFE26F-2E69-4A80-88F7-0FA7E16D8B64}"/>
              </a:ext>
            </a:extLst>
          </p:cNvPr>
          <p:cNvSpPr/>
          <p:nvPr/>
        </p:nvSpPr>
        <p:spPr>
          <a:xfrm>
            <a:off x="4646341" y="72947"/>
            <a:ext cx="2780782" cy="401267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Parametric study.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64C5B0F7-626D-4B45-851A-73A51AC6FC91}"/>
              </a:ext>
            </a:extLst>
          </p:cNvPr>
          <p:cNvSpPr/>
          <p:nvPr/>
        </p:nvSpPr>
        <p:spPr>
          <a:xfrm>
            <a:off x="9554158" y="85248"/>
            <a:ext cx="2209800" cy="397778"/>
          </a:xfrm>
          <a:prstGeom prst="chevron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Reference.</a:t>
            </a:r>
          </a:p>
        </p:txBody>
      </p:sp>
    </p:spTree>
    <p:extLst>
      <p:ext uri="{BB962C8B-B14F-4D97-AF65-F5344CB8AC3E}">
        <p14:creationId xmlns:p14="http://schemas.microsoft.com/office/powerpoint/2010/main" val="2430213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D3AEB4-242A-4F12-964A-0173865C7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2EC75F-975A-4DCE-96D0-314A7C5A5EEA}"/>
              </a:ext>
            </a:extLst>
          </p:cNvPr>
          <p:cNvSpPr txBox="1"/>
          <p:nvPr/>
        </p:nvSpPr>
        <p:spPr>
          <a:xfrm>
            <a:off x="6434667" y="4546604"/>
            <a:ext cx="59016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69335E-FB99-473C-ACB8-3A5564FD67A8}"/>
              </a:ext>
            </a:extLst>
          </p:cNvPr>
          <p:cNvCxnSpPr>
            <a:cxnSpLocks/>
          </p:cNvCxnSpPr>
          <p:nvPr/>
        </p:nvCxnSpPr>
        <p:spPr>
          <a:xfrm>
            <a:off x="186266" y="6356350"/>
            <a:ext cx="1170093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5A5F64C-EDC4-4788-BD05-1A8F4F67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Study on Structural Efficiency and Economy of Transmission Towers.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53100F-D28D-436B-A638-ABAB7A69D208}"/>
              </a:ext>
            </a:extLst>
          </p:cNvPr>
          <p:cNvCxnSpPr>
            <a:cxnSpLocks/>
          </p:cNvCxnSpPr>
          <p:nvPr/>
        </p:nvCxnSpPr>
        <p:spPr>
          <a:xfrm>
            <a:off x="245533" y="522816"/>
            <a:ext cx="1170093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ABD73E-CBC9-4687-8D82-46654EA0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E2847-1C20-43EE-917E-838C00A96453}" type="slidenum">
              <a:rPr lang="en-IN" smtClean="0"/>
              <a:t>28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A56B5-3209-48BB-A5E8-195B31851F49}"/>
              </a:ext>
            </a:extLst>
          </p:cNvPr>
          <p:cNvSpPr txBox="1"/>
          <p:nvPr/>
        </p:nvSpPr>
        <p:spPr>
          <a:xfrm>
            <a:off x="414867" y="722467"/>
            <a:ext cx="405918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Land of Giants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IN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Choi+Shine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Architects (south Korea). </a:t>
            </a:r>
          </a:p>
        </p:txBody>
      </p:sp>
    </p:spTree>
    <p:extLst>
      <p:ext uri="{BB962C8B-B14F-4D97-AF65-F5344CB8AC3E}">
        <p14:creationId xmlns:p14="http://schemas.microsoft.com/office/powerpoint/2010/main" val="299354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2827</TotalTime>
  <Words>3343</Words>
  <Application>Microsoft Office PowerPoint</Application>
  <PresentationFormat>Widescreen</PresentationFormat>
  <Paragraphs>536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MS Mincho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72</cp:revision>
  <dcterms:created xsi:type="dcterms:W3CDTF">2025-10-18T15:53:41Z</dcterms:created>
  <dcterms:modified xsi:type="dcterms:W3CDTF">2025-11-07T05:56:33Z</dcterms:modified>
</cp:coreProperties>
</file>